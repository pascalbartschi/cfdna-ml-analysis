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60" r:id="rId2"/>
  </p:sldIdLst>
  <p:sldSz cx="42803763" cy="30275213"/>
  <p:notesSz cx="7104063"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E3E3"/>
    <a:srgbClr val="6D9BAB"/>
    <a:srgbClr val="4D7685"/>
    <a:srgbClr val="B3CB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ittlere Formatvorlage 4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46F890A9-2807-4EBB-B81D-B2AA78EC7F39}" styleName="Dunkle Formatvorlage 2 - Akzent 5/Akz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7DF18680-E054-41AD-8BC1-D1AEF772440D}" styleName="Mittlere Formatvorlage 2 - Akz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 d="100"/>
          <a:sy n="14" d="100"/>
        </p:scale>
        <p:origin x="1236"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scal Bärtschi" userId="b5187864eb675daa" providerId="LiveId" clId="{E7118E4C-53CD-422B-9CBD-970F4ECB2314}"/>
    <pc:docChg chg="delSld">
      <pc:chgData name="Pascal Bärtschi" userId="b5187864eb675daa" providerId="LiveId" clId="{E7118E4C-53CD-422B-9CBD-970F4ECB2314}" dt="2023-06-30T07:42:33.138" v="9" actId="47"/>
      <pc:docMkLst>
        <pc:docMk/>
      </pc:docMkLst>
      <pc:sldChg chg="del">
        <pc:chgData name="Pascal Bärtschi" userId="b5187864eb675daa" providerId="LiveId" clId="{E7118E4C-53CD-422B-9CBD-970F4ECB2314}" dt="2023-06-30T07:42:33.138" v="9" actId="47"/>
        <pc:sldMkLst>
          <pc:docMk/>
          <pc:sldMk cId="3422740194" sldId="261"/>
        </pc:sldMkLst>
      </pc:sldChg>
      <pc:sldChg chg="del">
        <pc:chgData name="Pascal Bärtschi" userId="b5187864eb675daa" providerId="LiveId" clId="{E7118E4C-53CD-422B-9CBD-970F4ECB2314}" dt="2023-06-30T07:42:32.665" v="8" actId="47"/>
        <pc:sldMkLst>
          <pc:docMk/>
          <pc:sldMk cId="877146815" sldId="262"/>
        </pc:sldMkLst>
      </pc:sldChg>
      <pc:sldChg chg="del">
        <pc:chgData name="Pascal Bärtschi" userId="b5187864eb675daa" providerId="LiveId" clId="{E7118E4C-53CD-422B-9CBD-970F4ECB2314}" dt="2023-06-30T07:42:32.173" v="7" actId="47"/>
        <pc:sldMkLst>
          <pc:docMk/>
          <pc:sldMk cId="2022838190" sldId="263"/>
        </pc:sldMkLst>
      </pc:sldChg>
      <pc:sldChg chg="del">
        <pc:chgData name="Pascal Bärtschi" userId="b5187864eb675daa" providerId="LiveId" clId="{E7118E4C-53CD-422B-9CBD-970F4ECB2314}" dt="2023-06-30T07:42:31.984" v="6" actId="47"/>
        <pc:sldMkLst>
          <pc:docMk/>
          <pc:sldMk cId="795096077" sldId="264"/>
        </pc:sldMkLst>
      </pc:sldChg>
      <pc:sldChg chg="del">
        <pc:chgData name="Pascal Bärtschi" userId="b5187864eb675daa" providerId="LiveId" clId="{E7118E4C-53CD-422B-9CBD-970F4ECB2314}" dt="2023-06-30T07:42:31.778" v="5" actId="47"/>
        <pc:sldMkLst>
          <pc:docMk/>
          <pc:sldMk cId="2099432169" sldId="265"/>
        </pc:sldMkLst>
      </pc:sldChg>
      <pc:sldChg chg="del">
        <pc:chgData name="Pascal Bärtschi" userId="b5187864eb675daa" providerId="LiveId" clId="{E7118E4C-53CD-422B-9CBD-970F4ECB2314}" dt="2023-06-30T07:42:31.620" v="4" actId="47"/>
        <pc:sldMkLst>
          <pc:docMk/>
          <pc:sldMk cId="2581876593" sldId="266"/>
        </pc:sldMkLst>
      </pc:sldChg>
      <pc:sldChg chg="del">
        <pc:chgData name="Pascal Bärtschi" userId="b5187864eb675daa" providerId="LiveId" clId="{E7118E4C-53CD-422B-9CBD-970F4ECB2314}" dt="2023-06-30T07:42:31.422" v="3" actId="47"/>
        <pc:sldMkLst>
          <pc:docMk/>
          <pc:sldMk cId="3457431752" sldId="267"/>
        </pc:sldMkLst>
      </pc:sldChg>
      <pc:sldChg chg="del">
        <pc:chgData name="Pascal Bärtschi" userId="b5187864eb675daa" providerId="LiveId" clId="{E7118E4C-53CD-422B-9CBD-970F4ECB2314}" dt="2023-06-30T07:42:31.130" v="2" actId="47"/>
        <pc:sldMkLst>
          <pc:docMk/>
          <pc:sldMk cId="1094706220" sldId="268"/>
        </pc:sldMkLst>
      </pc:sldChg>
      <pc:sldChg chg="del">
        <pc:chgData name="Pascal Bärtschi" userId="b5187864eb675daa" providerId="LiveId" clId="{E7118E4C-53CD-422B-9CBD-970F4ECB2314}" dt="2023-06-30T07:42:30.780" v="1" actId="47"/>
        <pc:sldMkLst>
          <pc:docMk/>
          <pc:sldMk cId="2250407393" sldId="269"/>
        </pc:sldMkLst>
      </pc:sldChg>
      <pc:sldChg chg="del">
        <pc:chgData name="Pascal Bärtschi" userId="b5187864eb675daa" providerId="LiveId" clId="{E7118E4C-53CD-422B-9CBD-970F4ECB2314}" dt="2023-06-30T07:42:29.641" v="0" actId="47"/>
        <pc:sldMkLst>
          <pc:docMk/>
          <pc:sldMk cId="1732886444" sldId="2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en-GB"/>
          </a:p>
        </p:txBody>
      </p:sp>
      <p:sp>
        <p:nvSpPr>
          <p:cNvPr id="3" name="Datumsplatzhalter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460886F4-1AA5-4CD0-A80A-B3C7B718E201}" type="datetimeFigureOut">
              <a:rPr lang="en-GB" smtClean="0"/>
              <a:t>30/06/2023</a:t>
            </a:fld>
            <a:endParaRPr lang="en-GB"/>
          </a:p>
        </p:txBody>
      </p:sp>
      <p:sp>
        <p:nvSpPr>
          <p:cNvPr id="4" name="Folienbildplatzhalter 3"/>
          <p:cNvSpPr>
            <a:spLocks noGrp="1" noRot="1" noChangeAspect="1"/>
          </p:cNvSpPr>
          <p:nvPr>
            <p:ph type="sldImg" idx="2"/>
          </p:nvPr>
        </p:nvSpPr>
        <p:spPr>
          <a:xfrm>
            <a:off x="1111250" y="1279525"/>
            <a:ext cx="4883150" cy="3454400"/>
          </a:xfrm>
          <a:prstGeom prst="rect">
            <a:avLst/>
          </a:prstGeom>
          <a:noFill/>
          <a:ln w="12700">
            <a:solidFill>
              <a:prstClr val="black"/>
            </a:solidFill>
          </a:ln>
        </p:spPr>
        <p:txBody>
          <a:bodyPr vert="horz" lIns="91440" tIns="45720" rIns="91440" bIns="45720" rtlCol="0" anchor="ctr"/>
          <a:lstStyle/>
          <a:p>
            <a:endParaRPr lang="en-GB"/>
          </a:p>
        </p:txBody>
      </p:sp>
      <p:sp>
        <p:nvSpPr>
          <p:cNvPr id="5" name="Notizenplatzhalter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6" name="Fußzeilenplatzhalter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en-GB"/>
          </a:p>
        </p:txBody>
      </p:sp>
      <p:sp>
        <p:nvSpPr>
          <p:cNvPr id="7" name="Foliennummernplatzhalter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76C6A8B3-67CC-4972-AA5B-0239987466CA}" type="slidenum">
              <a:rPr lang="en-GB" smtClean="0"/>
              <a:t>‹#›</a:t>
            </a:fld>
            <a:endParaRPr lang="en-GB"/>
          </a:p>
        </p:txBody>
      </p:sp>
    </p:spTree>
    <p:extLst>
      <p:ext uri="{BB962C8B-B14F-4D97-AF65-F5344CB8AC3E}">
        <p14:creationId xmlns:p14="http://schemas.microsoft.com/office/powerpoint/2010/main" val="82796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a:p>
        </p:txBody>
      </p:sp>
      <p:sp>
        <p:nvSpPr>
          <p:cNvPr id="4" name="Foliennummernplatzhalter 3"/>
          <p:cNvSpPr>
            <a:spLocks noGrp="1"/>
          </p:cNvSpPr>
          <p:nvPr>
            <p:ph type="sldNum" sz="quarter" idx="5"/>
          </p:nvPr>
        </p:nvSpPr>
        <p:spPr/>
        <p:txBody>
          <a:bodyPr/>
          <a:lstStyle/>
          <a:p>
            <a:fld id="{76C6A8B3-67CC-4972-AA5B-0239987466CA}" type="slidenum">
              <a:rPr lang="en-GB" smtClean="0"/>
              <a:t>1</a:t>
            </a:fld>
            <a:endParaRPr lang="en-GB"/>
          </a:p>
        </p:txBody>
      </p:sp>
    </p:spTree>
    <p:extLst>
      <p:ext uri="{BB962C8B-B14F-4D97-AF65-F5344CB8AC3E}">
        <p14:creationId xmlns:p14="http://schemas.microsoft.com/office/powerpoint/2010/main" val="7465156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3210282" y="4954765"/>
            <a:ext cx="36383199" cy="10540259"/>
          </a:xfrm>
        </p:spPr>
        <p:txBody>
          <a:bodyPr anchor="b"/>
          <a:lstStyle>
            <a:lvl1pPr algn="ctr">
              <a:defRPr sz="26488"/>
            </a:lvl1pPr>
          </a:lstStyle>
          <a:p>
            <a:r>
              <a:rPr lang="de-DE"/>
              <a:t>Mastertitelformat bearbeiten</a:t>
            </a:r>
            <a:endParaRPr lang="en-US"/>
          </a:p>
        </p:txBody>
      </p:sp>
      <p:sp>
        <p:nvSpPr>
          <p:cNvPr id="3" name="Subtitle 2"/>
          <p:cNvSpPr>
            <a:spLocks noGrp="1"/>
          </p:cNvSpPr>
          <p:nvPr>
            <p:ph type="subTitle" idx="1"/>
          </p:nvPr>
        </p:nvSpPr>
        <p:spPr>
          <a:xfrm>
            <a:off x="5350471" y="15901497"/>
            <a:ext cx="32102822" cy="7309499"/>
          </a:xfrm>
        </p:spPr>
        <p:txBody>
          <a:bodyPr/>
          <a:lstStyle>
            <a:lvl1pPr marL="0" indent="0" algn="ctr">
              <a:buNone/>
              <a:defRPr sz="10595"/>
            </a:lvl1pPr>
            <a:lvl2pPr marL="2018355" indent="0" algn="ctr">
              <a:buNone/>
              <a:defRPr sz="8829"/>
            </a:lvl2pPr>
            <a:lvl3pPr marL="4036710" indent="0" algn="ctr">
              <a:buNone/>
              <a:defRPr sz="7946"/>
            </a:lvl3pPr>
            <a:lvl4pPr marL="6055065" indent="0" algn="ctr">
              <a:buNone/>
              <a:defRPr sz="7063"/>
            </a:lvl4pPr>
            <a:lvl5pPr marL="8073420" indent="0" algn="ctr">
              <a:buNone/>
              <a:defRPr sz="7063"/>
            </a:lvl5pPr>
            <a:lvl6pPr marL="10091776" indent="0" algn="ctr">
              <a:buNone/>
              <a:defRPr sz="7063"/>
            </a:lvl6pPr>
            <a:lvl7pPr marL="12110131" indent="0" algn="ctr">
              <a:buNone/>
              <a:defRPr sz="7063"/>
            </a:lvl7pPr>
            <a:lvl8pPr marL="14128486" indent="0" algn="ctr">
              <a:buNone/>
              <a:defRPr sz="7063"/>
            </a:lvl8pPr>
            <a:lvl9pPr marL="16146841" indent="0" algn="ctr">
              <a:buNone/>
              <a:defRPr sz="7063"/>
            </a:lvl9pPr>
          </a:lstStyle>
          <a:p>
            <a:r>
              <a:rPr lang="de-DE"/>
              <a:t>Master-Untertitelformat bearbeiten</a:t>
            </a:r>
            <a:endParaRPr lang="en-US"/>
          </a:p>
        </p:txBody>
      </p:sp>
      <p:sp>
        <p:nvSpPr>
          <p:cNvPr id="4" name="Date Placeholder 3"/>
          <p:cNvSpPr>
            <a:spLocks noGrp="1"/>
          </p:cNvSpPr>
          <p:nvPr>
            <p:ph type="dt" sz="half" idx="10"/>
          </p:nvPr>
        </p:nvSpPr>
        <p:spPr/>
        <p:txBody>
          <a:bodyPr/>
          <a:lstStyle/>
          <a:p>
            <a:fld id="{6C21957C-E5EC-4B9A-BAB5-614B29E7C7B6}" type="datetimeFigureOut">
              <a:rPr lang="en-GB" smtClean="0"/>
              <a:t>30/06/2023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3CC16C-50C7-476B-9101-5447C4BD2D2C}" type="slidenum">
              <a:rPr lang="en-GB" smtClean="0"/>
              <a:t>‹#›</a:t>
            </a:fld>
            <a:endParaRPr lang="en-GB"/>
          </a:p>
        </p:txBody>
      </p:sp>
    </p:spTree>
    <p:extLst>
      <p:ext uri="{BB962C8B-B14F-4D97-AF65-F5344CB8AC3E}">
        <p14:creationId xmlns:p14="http://schemas.microsoft.com/office/powerpoint/2010/main" val="17435345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e Placeholder 3"/>
          <p:cNvSpPr>
            <a:spLocks noGrp="1"/>
          </p:cNvSpPr>
          <p:nvPr>
            <p:ph type="dt" sz="half" idx="10"/>
          </p:nvPr>
        </p:nvSpPr>
        <p:spPr/>
        <p:txBody>
          <a:bodyPr/>
          <a:lstStyle/>
          <a:p>
            <a:fld id="{6C21957C-E5EC-4B9A-BAB5-614B29E7C7B6}" type="datetimeFigureOut">
              <a:rPr lang="en-GB" smtClean="0"/>
              <a:t>30/06/2023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3CC16C-50C7-476B-9101-5447C4BD2D2C}" type="slidenum">
              <a:rPr lang="en-GB" smtClean="0"/>
              <a:t>‹#›</a:t>
            </a:fld>
            <a:endParaRPr lang="en-GB"/>
          </a:p>
        </p:txBody>
      </p:sp>
    </p:spTree>
    <p:extLst>
      <p:ext uri="{BB962C8B-B14F-4D97-AF65-F5344CB8AC3E}">
        <p14:creationId xmlns:p14="http://schemas.microsoft.com/office/powerpoint/2010/main" val="804674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2920467" y="7547788"/>
            <a:ext cx="36918246" cy="12593645"/>
          </a:xfrm>
        </p:spPr>
        <p:txBody>
          <a:bodyPr anchor="b"/>
          <a:lstStyle>
            <a:lvl1pPr>
              <a:defRPr sz="26488"/>
            </a:lvl1pPr>
          </a:lstStyle>
          <a:p>
            <a:r>
              <a:rPr lang="de-DE"/>
              <a:t>Mastertitelformat bearbeiten</a:t>
            </a:r>
            <a:endParaRPr lang="en-US"/>
          </a:p>
        </p:txBody>
      </p:sp>
      <p:sp>
        <p:nvSpPr>
          <p:cNvPr id="3" name="Text Placeholder 2"/>
          <p:cNvSpPr>
            <a:spLocks noGrp="1"/>
          </p:cNvSpPr>
          <p:nvPr>
            <p:ph type="body" idx="1"/>
          </p:nvPr>
        </p:nvSpPr>
        <p:spPr>
          <a:xfrm>
            <a:off x="2920467" y="20260574"/>
            <a:ext cx="36918246" cy="6622701"/>
          </a:xfrm>
        </p:spPr>
        <p:txBody>
          <a:bodyPr/>
          <a:lstStyle>
            <a:lvl1pPr marL="0" indent="0">
              <a:buNone/>
              <a:defRPr sz="10595">
                <a:solidFill>
                  <a:schemeClr val="tx1"/>
                </a:solidFill>
              </a:defRPr>
            </a:lvl1pPr>
            <a:lvl2pPr marL="2018355" indent="0">
              <a:buNone/>
              <a:defRPr sz="8829">
                <a:solidFill>
                  <a:schemeClr val="tx1">
                    <a:tint val="75000"/>
                  </a:schemeClr>
                </a:solidFill>
              </a:defRPr>
            </a:lvl2pPr>
            <a:lvl3pPr marL="4036710" indent="0">
              <a:buNone/>
              <a:defRPr sz="7946">
                <a:solidFill>
                  <a:schemeClr val="tx1">
                    <a:tint val="75000"/>
                  </a:schemeClr>
                </a:solidFill>
              </a:defRPr>
            </a:lvl3pPr>
            <a:lvl4pPr marL="6055065" indent="0">
              <a:buNone/>
              <a:defRPr sz="7063">
                <a:solidFill>
                  <a:schemeClr val="tx1">
                    <a:tint val="75000"/>
                  </a:schemeClr>
                </a:solidFill>
              </a:defRPr>
            </a:lvl4pPr>
            <a:lvl5pPr marL="8073420" indent="0">
              <a:buNone/>
              <a:defRPr sz="7063">
                <a:solidFill>
                  <a:schemeClr val="tx1">
                    <a:tint val="75000"/>
                  </a:schemeClr>
                </a:solidFill>
              </a:defRPr>
            </a:lvl5pPr>
            <a:lvl6pPr marL="10091776" indent="0">
              <a:buNone/>
              <a:defRPr sz="7063">
                <a:solidFill>
                  <a:schemeClr val="tx1">
                    <a:tint val="75000"/>
                  </a:schemeClr>
                </a:solidFill>
              </a:defRPr>
            </a:lvl6pPr>
            <a:lvl7pPr marL="12110131" indent="0">
              <a:buNone/>
              <a:defRPr sz="7063">
                <a:solidFill>
                  <a:schemeClr val="tx1">
                    <a:tint val="75000"/>
                  </a:schemeClr>
                </a:solidFill>
              </a:defRPr>
            </a:lvl7pPr>
            <a:lvl8pPr marL="14128486" indent="0">
              <a:buNone/>
              <a:defRPr sz="7063">
                <a:solidFill>
                  <a:schemeClr val="tx1">
                    <a:tint val="75000"/>
                  </a:schemeClr>
                </a:solidFill>
              </a:defRPr>
            </a:lvl8pPr>
            <a:lvl9pPr marL="16146841" indent="0">
              <a:buNone/>
              <a:defRPr sz="7063">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6C21957C-E5EC-4B9A-BAB5-614B29E7C7B6}" type="datetimeFigureOut">
              <a:rPr lang="en-GB" smtClean="0"/>
              <a:t>30/06/2023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3CC16C-50C7-476B-9101-5447C4BD2D2C}" type="slidenum">
              <a:rPr lang="en-GB" smtClean="0"/>
              <a:t>‹#›</a:t>
            </a:fld>
            <a:endParaRPr lang="en-GB"/>
          </a:p>
        </p:txBody>
      </p:sp>
    </p:spTree>
    <p:extLst>
      <p:ext uri="{BB962C8B-B14F-4D97-AF65-F5344CB8AC3E}">
        <p14:creationId xmlns:p14="http://schemas.microsoft.com/office/powerpoint/2010/main" val="3051393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a:p>
        </p:txBody>
      </p:sp>
      <p:sp>
        <p:nvSpPr>
          <p:cNvPr id="3" name="Content Placeholder 2"/>
          <p:cNvSpPr>
            <a:spLocks noGrp="1"/>
          </p:cNvSpPr>
          <p:nvPr>
            <p:ph sz="half" idx="1"/>
          </p:nvPr>
        </p:nvSpPr>
        <p:spPr>
          <a:xfrm>
            <a:off x="2942759" y="8059374"/>
            <a:ext cx="18191599" cy="1920934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Content Placeholder 3"/>
          <p:cNvSpPr>
            <a:spLocks noGrp="1"/>
          </p:cNvSpPr>
          <p:nvPr>
            <p:ph sz="half" idx="2"/>
          </p:nvPr>
        </p:nvSpPr>
        <p:spPr>
          <a:xfrm>
            <a:off x="21669405" y="8059374"/>
            <a:ext cx="18191599" cy="1920934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Date Placeholder 4"/>
          <p:cNvSpPr>
            <a:spLocks noGrp="1"/>
          </p:cNvSpPr>
          <p:nvPr>
            <p:ph type="dt" sz="half" idx="10"/>
          </p:nvPr>
        </p:nvSpPr>
        <p:spPr/>
        <p:txBody>
          <a:bodyPr/>
          <a:lstStyle/>
          <a:p>
            <a:fld id="{6C21957C-E5EC-4B9A-BAB5-614B29E7C7B6}" type="datetimeFigureOut">
              <a:rPr lang="en-GB" smtClean="0"/>
              <a:t>30/06/2023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93CC16C-50C7-476B-9101-5447C4BD2D2C}" type="slidenum">
              <a:rPr lang="en-GB" smtClean="0"/>
              <a:t>‹#›</a:t>
            </a:fld>
            <a:endParaRPr lang="en-GB"/>
          </a:p>
        </p:txBody>
      </p:sp>
    </p:spTree>
    <p:extLst>
      <p:ext uri="{BB962C8B-B14F-4D97-AF65-F5344CB8AC3E}">
        <p14:creationId xmlns:p14="http://schemas.microsoft.com/office/powerpoint/2010/main" val="5549876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2948334" y="1611882"/>
            <a:ext cx="36918246" cy="5851808"/>
          </a:xfrm>
        </p:spPr>
        <p:txBody>
          <a:bodyPr/>
          <a:lstStyle/>
          <a:p>
            <a:r>
              <a:rPr lang="de-DE"/>
              <a:t>Mastertitelformat bearbeiten</a:t>
            </a:r>
            <a:endParaRPr lang="en-US"/>
          </a:p>
        </p:txBody>
      </p:sp>
      <p:sp>
        <p:nvSpPr>
          <p:cNvPr id="3" name="Text Placeholder 2"/>
          <p:cNvSpPr>
            <a:spLocks noGrp="1"/>
          </p:cNvSpPr>
          <p:nvPr>
            <p:ph type="body" idx="1"/>
          </p:nvPr>
        </p:nvSpPr>
        <p:spPr>
          <a:xfrm>
            <a:off x="2948339" y="7421634"/>
            <a:ext cx="18107995" cy="3637228"/>
          </a:xfrm>
        </p:spPr>
        <p:txBody>
          <a:bodyPr anchor="b"/>
          <a:lstStyle>
            <a:lvl1pPr marL="0" indent="0">
              <a:buNone/>
              <a:defRPr sz="10595" b="1"/>
            </a:lvl1pPr>
            <a:lvl2pPr marL="2018355" indent="0">
              <a:buNone/>
              <a:defRPr sz="8829" b="1"/>
            </a:lvl2pPr>
            <a:lvl3pPr marL="4036710" indent="0">
              <a:buNone/>
              <a:defRPr sz="7946" b="1"/>
            </a:lvl3pPr>
            <a:lvl4pPr marL="6055065" indent="0">
              <a:buNone/>
              <a:defRPr sz="7063" b="1"/>
            </a:lvl4pPr>
            <a:lvl5pPr marL="8073420" indent="0">
              <a:buNone/>
              <a:defRPr sz="7063" b="1"/>
            </a:lvl5pPr>
            <a:lvl6pPr marL="10091776" indent="0">
              <a:buNone/>
              <a:defRPr sz="7063" b="1"/>
            </a:lvl6pPr>
            <a:lvl7pPr marL="12110131" indent="0">
              <a:buNone/>
              <a:defRPr sz="7063" b="1"/>
            </a:lvl7pPr>
            <a:lvl8pPr marL="14128486" indent="0">
              <a:buNone/>
              <a:defRPr sz="7063" b="1"/>
            </a:lvl8pPr>
            <a:lvl9pPr marL="16146841" indent="0">
              <a:buNone/>
              <a:defRPr sz="7063" b="1"/>
            </a:lvl9pPr>
          </a:lstStyle>
          <a:p>
            <a:pPr lvl="0"/>
            <a:r>
              <a:rPr lang="de-DE"/>
              <a:t>Mastertextformat bearbeiten</a:t>
            </a:r>
          </a:p>
        </p:txBody>
      </p:sp>
      <p:sp>
        <p:nvSpPr>
          <p:cNvPr id="4" name="Content Placeholder 3"/>
          <p:cNvSpPr>
            <a:spLocks noGrp="1"/>
          </p:cNvSpPr>
          <p:nvPr>
            <p:ph sz="half" idx="2"/>
          </p:nvPr>
        </p:nvSpPr>
        <p:spPr>
          <a:xfrm>
            <a:off x="2948339" y="11058863"/>
            <a:ext cx="18107995" cy="1626592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Text Placeholder 4"/>
          <p:cNvSpPr>
            <a:spLocks noGrp="1"/>
          </p:cNvSpPr>
          <p:nvPr>
            <p:ph type="body" sz="quarter" idx="3"/>
          </p:nvPr>
        </p:nvSpPr>
        <p:spPr>
          <a:xfrm>
            <a:off x="21669408" y="7421634"/>
            <a:ext cx="18197174" cy="3637228"/>
          </a:xfrm>
        </p:spPr>
        <p:txBody>
          <a:bodyPr anchor="b"/>
          <a:lstStyle>
            <a:lvl1pPr marL="0" indent="0">
              <a:buNone/>
              <a:defRPr sz="10595" b="1"/>
            </a:lvl1pPr>
            <a:lvl2pPr marL="2018355" indent="0">
              <a:buNone/>
              <a:defRPr sz="8829" b="1"/>
            </a:lvl2pPr>
            <a:lvl3pPr marL="4036710" indent="0">
              <a:buNone/>
              <a:defRPr sz="7946" b="1"/>
            </a:lvl3pPr>
            <a:lvl4pPr marL="6055065" indent="0">
              <a:buNone/>
              <a:defRPr sz="7063" b="1"/>
            </a:lvl4pPr>
            <a:lvl5pPr marL="8073420" indent="0">
              <a:buNone/>
              <a:defRPr sz="7063" b="1"/>
            </a:lvl5pPr>
            <a:lvl6pPr marL="10091776" indent="0">
              <a:buNone/>
              <a:defRPr sz="7063" b="1"/>
            </a:lvl6pPr>
            <a:lvl7pPr marL="12110131" indent="0">
              <a:buNone/>
              <a:defRPr sz="7063" b="1"/>
            </a:lvl7pPr>
            <a:lvl8pPr marL="14128486" indent="0">
              <a:buNone/>
              <a:defRPr sz="7063" b="1"/>
            </a:lvl8pPr>
            <a:lvl9pPr marL="16146841" indent="0">
              <a:buNone/>
              <a:defRPr sz="7063" b="1"/>
            </a:lvl9pPr>
          </a:lstStyle>
          <a:p>
            <a:pPr lvl="0"/>
            <a:r>
              <a:rPr lang="de-DE"/>
              <a:t>Mastertextformat bearbeiten</a:t>
            </a:r>
          </a:p>
        </p:txBody>
      </p:sp>
      <p:sp>
        <p:nvSpPr>
          <p:cNvPr id="6" name="Content Placeholder 5"/>
          <p:cNvSpPr>
            <a:spLocks noGrp="1"/>
          </p:cNvSpPr>
          <p:nvPr>
            <p:ph sz="quarter" idx="4"/>
          </p:nvPr>
        </p:nvSpPr>
        <p:spPr>
          <a:xfrm>
            <a:off x="21669408" y="11058863"/>
            <a:ext cx="18197174" cy="1626592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7" name="Date Placeholder 6"/>
          <p:cNvSpPr>
            <a:spLocks noGrp="1"/>
          </p:cNvSpPr>
          <p:nvPr>
            <p:ph type="dt" sz="half" idx="10"/>
          </p:nvPr>
        </p:nvSpPr>
        <p:spPr/>
        <p:txBody>
          <a:bodyPr/>
          <a:lstStyle/>
          <a:p>
            <a:fld id="{6C21957C-E5EC-4B9A-BAB5-614B29E7C7B6}" type="datetimeFigureOut">
              <a:rPr lang="en-GB" smtClean="0"/>
              <a:t>30/06/2023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93CC16C-50C7-476B-9101-5447C4BD2D2C}" type="slidenum">
              <a:rPr lang="en-GB" smtClean="0"/>
              <a:t>‹#›</a:t>
            </a:fld>
            <a:endParaRPr lang="en-GB"/>
          </a:p>
        </p:txBody>
      </p:sp>
    </p:spTree>
    <p:extLst>
      <p:ext uri="{BB962C8B-B14F-4D97-AF65-F5344CB8AC3E}">
        <p14:creationId xmlns:p14="http://schemas.microsoft.com/office/powerpoint/2010/main" val="11621070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a:p>
        </p:txBody>
      </p:sp>
      <p:sp>
        <p:nvSpPr>
          <p:cNvPr id="3" name="Date Placeholder 2"/>
          <p:cNvSpPr>
            <a:spLocks noGrp="1"/>
          </p:cNvSpPr>
          <p:nvPr>
            <p:ph type="dt" sz="half" idx="10"/>
          </p:nvPr>
        </p:nvSpPr>
        <p:spPr/>
        <p:txBody>
          <a:bodyPr/>
          <a:lstStyle/>
          <a:p>
            <a:fld id="{6C21957C-E5EC-4B9A-BAB5-614B29E7C7B6}" type="datetimeFigureOut">
              <a:rPr lang="en-GB" smtClean="0"/>
              <a:t>30/06/2023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93CC16C-50C7-476B-9101-5447C4BD2D2C}" type="slidenum">
              <a:rPr lang="en-GB" smtClean="0"/>
              <a:t>‹#›</a:t>
            </a:fld>
            <a:endParaRPr lang="en-GB"/>
          </a:p>
        </p:txBody>
      </p:sp>
    </p:spTree>
    <p:extLst>
      <p:ext uri="{BB962C8B-B14F-4D97-AF65-F5344CB8AC3E}">
        <p14:creationId xmlns:p14="http://schemas.microsoft.com/office/powerpoint/2010/main" val="35117733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21957C-E5EC-4B9A-BAB5-614B29E7C7B6}" type="datetimeFigureOut">
              <a:rPr lang="en-GB" smtClean="0"/>
              <a:t>30/06/2023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093CC16C-50C7-476B-9101-5447C4BD2D2C}" type="slidenum">
              <a:rPr lang="en-GB" smtClean="0"/>
              <a:t>‹#›</a:t>
            </a:fld>
            <a:endParaRPr lang="en-GB"/>
          </a:p>
        </p:txBody>
      </p:sp>
    </p:spTree>
    <p:extLst>
      <p:ext uri="{BB962C8B-B14F-4D97-AF65-F5344CB8AC3E}">
        <p14:creationId xmlns:p14="http://schemas.microsoft.com/office/powerpoint/2010/main" val="2575775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2948334" y="2018348"/>
            <a:ext cx="13805328" cy="7064216"/>
          </a:xfrm>
        </p:spPr>
        <p:txBody>
          <a:bodyPr anchor="b"/>
          <a:lstStyle>
            <a:lvl1pPr>
              <a:defRPr sz="14127"/>
            </a:lvl1pPr>
          </a:lstStyle>
          <a:p>
            <a:r>
              <a:rPr lang="de-DE"/>
              <a:t>Mastertitelformat bearbeiten</a:t>
            </a:r>
            <a:endParaRPr lang="en-US"/>
          </a:p>
        </p:txBody>
      </p:sp>
      <p:sp>
        <p:nvSpPr>
          <p:cNvPr id="3" name="Content Placeholder 2"/>
          <p:cNvSpPr>
            <a:spLocks noGrp="1"/>
          </p:cNvSpPr>
          <p:nvPr>
            <p:ph idx="1"/>
          </p:nvPr>
        </p:nvSpPr>
        <p:spPr>
          <a:xfrm>
            <a:off x="18197174" y="4359077"/>
            <a:ext cx="21669405" cy="21515024"/>
          </a:xfrm>
        </p:spPr>
        <p:txBody>
          <a:bodyPr/>
          <a:lstStyle>
            <a:lvl1pPr>
              <a:defRPr sz="14127"/>
            </a:lvl1pPr>
            <a:lvl2pPr>
              <a:defRPr sz="12361"/>
            </a:lvl2pPr>
            <a:lvl3pPr>
              <a:defRPr sz="10595"/>
            </a:lvl3pPr>
            <a:lvl4pPr>
              <a:defRPr sz="8829"/>
            </a:lvl4pPr>
            <a:lvl5pPr>
              <a:defRPr sz="8829"/>
            </a:lvl5pPr>
            <a:lvl6pPr>
              <a:defRPr sz="8829"/>
            </a:lvl6pPr>
            <a:lvl7pPr>
              <a:defRPr sz="8829"/>
            </a:lvl7pPr>
            <a:lvl8pPr>
              <a:defRPr sz="8829"/>
            </a:lvl8pPr>
            <a:lvl9pPr>
              <a:defRPr sz="8829"/>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Text Placeholder 3"/>
          <p:cNvSpPr>
            <a:spLocks noGrp="1"/>
          </p:cNvSpPr>
          <p:nvPr>
            <p:ph type="body" sz="half" idx="2"/>
          </p:nvPr>
        </p:nvSpPr>
        <p:spPr>
          <a:xfrm>
            <a:off x="2948334" y="9082564"/>
            <a:ext cx="13805328" cy="16826573"/>
          </a:xfrm>
        </p:spPr>
        <p:txBody>
          <a:bodyPr/>
          <a:lstStyle>
            <a:lvl1pPr marL="0" indent="0">
              <a:buNone/>
              <a:defRPr sz="7063"/>
            </a:lvl1pPr>
            <a:lvl2pPr marL="2018355" indent="0">
              <a:buNone/>
              <a:defRPr sz="6180"/>
            </a:lvl2pPr>
            <a:lvl3pPr marL="4036710" indent="0">
              <a:buNone/>
              <a:defRPr sz="5298"/>
            </a:lvl3pPr>
            <a:lvl4pPr marL="6055065" indent="0">
              <a:buNone/>
              <a:defRPr sz="4415"/>
            </a:lvl4pPr>
            <a:lvl5pPr marL="8073420" indent="0">
              <a:buNone/>
              <a:defRPr sz="4415"/>
            </a:lvl5pPr>
            <a:lvl6pPr marL="10091776" indent="0">
              <a:buNone/>
              <a:defRPr sz="4415"/>
            </a:lvl6pPr>
            <a:lvl7pPr marL="12110131" indent="0">
              <a:buNone/>
              <a:defRPr sz="4415"/>
            </a:lvl7pPr>
            <a:lvl8pPr marL="14128486" indent="0">
              <a:buNone/>
              <a:defRPr sz="4415"/>
            </a:lvl8pPr>
            <a:lvl9pPr marL="16146841" indent="0">
              <a:buNone/>
              <a:defRPr sz="4415"/>
            </a:lvl9pPr>
          </a:lstStyle>
          <a:p>
            <a:pPr lvl="0"/>
            <a:r>
              <a:rPr lang="de-DE"/>
              <a:t>Mastertextformat bearbeiten</a:t>
            </a:r>
          </a:p>
        </p:txBody>
      </p:sp>
      <p:sp>
        <p:nvSpPr>
          <p:cNvPr id="5" name="Date Placeholder 4"/>
          <p:cNvSpPr>
            <a:spLocks noGrp="1"/>
          </p:cNvSpPr>
          <p:nvPr>
            <p:ph type="dt" sz="half" idx="10"/>
          </p:nvPr>
        </p:nvSpPr>
        <p:spPr/>
        <p:txBody>
          <a:bodyPr/>
          <a:lstStyle/>
          <a:p>
            <a:fld id="{6C21957C-E5EC-4B9A-BAB5-614B29E7C7B6}" type="datetimeFigureOut">
              <a:rPr lang="en-GB" smtClean="0"/>
              <a:t>30/06/2023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93CC16C-50C7-476B-9101-5447C4BD2D2C}" type="slidenum">
              <a:rPr lang="en-GB" smtClean="0"/>
              <a:t>‹#›</a:t>
            </a:fld>
            <a:endParaRPr lang="en-GB"/>
          </a:p>
        </p:txBody>
      </p:sp>
    </p:spTree>
    <p:extLst>
      <p:ext uri="{BB962C8B-B14F-4D97-AF65-F5344CB8AC3E}">
        <p14:creationId xmlns:p14="http://schemas.microsoft.com/office/powerpoint/2010/main" val="3876454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2948334" y="2018348"/>
            <a:ext cx="13805328" cy="7064216"/>
          </a:xfrm>
        </p:spPr>
        <p:txBody>
          <a:bodyPr anchor="b"/>
          <a:lstStyle>
            <a:lvl1pPr>
              <a:defRPr sz="14127"/>
            </a:lvl1pPr>
          </a:lstStyle>
          <a:p>
            <a:r>
              <a:rPr lang="de-DE"/>
              <a:t>Mastertitelformat bearbeiten</a:t>
            </a:r>
            <a:endParaRPr lang="en-US"/>
          </a:p>
        </p:txBody>
      </p:sp>
      <p:sp>
        <p:nvSpPr>
          <p:cNvPr id="3" name="Picture Placeholder 2"/>
          <p:cNvSpPr>
            <a:spLocks noGrp="1" noChangeAspect="1"/>
          </p:cNvSpPr>
          <p:nvPr>
            <p:ph type="pic" idx="1"/>
          </p:nvPr>
        </p:nvSpPr>
        <p:spPr>
          <a:xfrm>
            <a:off x="18197174" y="4359077"/>
            <a:ext cx="21669405" cy="21515024"/>
          </a:xfrm>
        </p:spPr>
        <p:txBody>
          <a:bodyPr anchor="t"/>
          <a:lstStyle>
            <a:lvl1pPr marL="0" indent="0">
              <a:buNone/>
              <a:defRPr sz="14127"/>
            </a:lvl1pPr>
            <a:lvl2pPr marL="2018355" indent="0">
              <a:buNone/>
              <a:defRPr sz="12361"/>
            </a:lvl2pPr>
            <a:lvl3pPr marL="4036710" indent="0">
              <a:buNone/>
              <a:defRPr sz="10595"/>
            </a:lvl3pPr>
            <a:lvl4pPr marL="6055065" indent="0">
              <a:buNone/>
              <a:defRPr sz="8829"/>
            </a:lvl4pPr>
            <a:lvl5pPr marL="8073420" indent="0">
              <a:buNone/>
              <a:defRPr sz="8829"/>
            </a:lvl5pPr>
            <a:lvl6pPr marL="10091776" indent="0">
              <a:buNone/>
              <a:defRPr sz="8829"/>
            </a:lvl6pPr>
            <a:lvl7pPr marL="12110131" indent="0">
              <a:buNone/>
              <a:defRPr sz="8829"/>
            </a:lvl7pPr>
            <a:lvl8pPr marL="14128486" indent="0">
              <a:buNone/>
              <a:defRPr sz="8829"/>
            </a:lvl8pPr>
            <a:lvl9pPr marL="16146841" indent="0">
              <a:buNone/>
              <a:defRPr sz="8829"/>
            </a:lvl9pPr>
          </a:lstStyle>
          <a:p>
            <a:r>
              <a:rPr lang="de-DE"/>
              <a:t>Bild durch Klicken auf Symbol hinzufügen</a:t>
            </a:r>
            <a:endParaRPr lang="en-US"/>
          </a:p>
        </p:txBody>
      </p:sp>
      <p:sp>
        <p:nvSpPr>
          <p:cNvPr id="4" name="Text Placeholder 3"/>
          <p:cNvSpPr>
            <a:spLocks noGrp="1"/>
          </p:cNvSpPr>
          <p:nvPr>
            <p:ph type="body" sz="half" idx="2"/>
          </p:nvPr>
        </p:nvSpPr>
        <p:spPr>
          <a:xfrm>
            <a:off x="2948334" y="9082564"/>
            <a:ext cx="13805328" cy="16826573"/>
          </a:xfrm>
        </p:spPr>
        <p:txBody>
          <a:bodyPr/>
          <a:lstStyle>
            <a:lvl1pPr marL="0" indent="0">
              <a:buNone/>
              <a:defRPr sz="7063"/>
            </a:lvl1pPr>
            <a:lvl2pPr marL="2018355" indent="0">
              <a:buNone/>
              <a:defRPr sz="6180"/>
            </a:lvl2pPr>
            <a:lvl3pPr marL="4036710" indent="0">
              <a:buNone/>
              <a:defRPr sz="5298"/>
            </a:lvl3pPr>
            <a:lvl4pPr marL="6055065" indent="0">
              <a:buNone/>
              <a:defRPr sz="4415"/>
            </a:lvl4pPr>
            <a:lvl5pPr marL="8073420" indent="0">
              <a:buNone/>
              <a:defRPr sz="4415"/>
            </a:lvl5pPr>
            <a:lvl6pPr marL="10091776" indent="0">
              <a:buNone/>
              <a:defRPr sz="4415"/>
            </a:lvl6pPr>
            <a:lvl7pPr marL="12110131" indent="0">
              <a:buNone/>
              <a:defRPr sz="4415"/>
            </a:lvl7pPr>
            <a:lvl8pPr marL="14128486" indent="0">
              <a:buNone/>
              <a:defRPr sz="4415"/>
            </a:lvl8pPr>
            <a:lvl9pPr marL="16146841" indent="0">
              <a:buNone/>
              <a:defRPr sz="4415"/>
            </a:lvl9pPr>
          </a:lstStyle>
          <a:p>
            <a:pPr lvl="0"/>
            <a:r>
              <a:rPr lang="de-DE"/>
              <a:t>Mastertextformat bearbeiten</a:t>
            </a:r>
          </a:p>
        </p:txBody>
      </p:sp>
      <p:sp>
        <p:nvSpPr>
          <p:cNvPr id="5" name="Date Placeholder 4"/>
          <p:cNvSpPr>
            <a:spLocks noGrp="1"/>
          </p:cNvSpPr>
          <p:nvPr>
            <p:ph type="dt" sz="half" idx="10"/>
          </p:nvPr>
        </p:nvSpPr>
        <p:spPr/>
        <p:txBody>
          <a:bodyPr/>
          <a:lstStyle/>
          <a:p>
            <a:fld id="{6C21957C-E5EC-4B9A-BAB5-614B29E7C7B6}" type="datetimeFigureOut">
              <a:rPr lang="en-GB" smtClean="0"/>
              <a:t>30/06/2023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93CC16C-50C7-476B-9101-5447C4BD2D2C}" type="slidenum">
              <a:rPr lang="en-GB" smtClean="0"/>
              <a:t>‹#›</a:t>
            </a:fld>
            <a:endParaRPr lang="en-GB"/>
          </a:p>
        </p:txBody>
      </p:sp>
    </p:spTree>
    <p:extLst>
      <p:ext uri="{BB962C8B-B14F-4D97-AF65-F5344CB8AC3E}">
        <p14:creationId xmlns:p14="http://schemas.microsoft.com/office/powerpoint/2010/main" val="1035152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e Placeholder 3"/>
          <p:cNvSpPr>
            <a:spLocks noGrp="1"/>
          </p:cNvSpPr>
          <p:nvPr>
            <p:ph type="dt" sz="half" idx="10"/>
          </p:nvPr>
        </p:nvSpPr>
        <p:spPr/>
        <p:txBody>
          <a:bodyPr/>
          <a:lstStyle/>
          <a:p>
            <a:fld id="{6C21957C-E5EC-4B9A-BAB5-614B29E7C7B6}" type="datetimeFigureOut">
              <a:rPr lang="en-GB" smtClean="0"/>
              <a:t>30/06/2023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3CC16C-50C7-476B-9101-5447C4BD2D2C}" type="slidenum">
              <a:rPr lang="en-GB" smtClean="0"/>
              <a:t>‹#›</a:t>
            </a:fld>
            <a:endParaRPr lang="en-GB"/>
          </a:p>
        </p:txBody>
      </p:sp>
    </p:spTree>
    <p:extLst>
      <p:ext uri="{BB962C8B-B14F-4D97-AF65-F5344CB8AC3E}">
        <p14:creationId xmlns:p14="http://schemas.microsoft.com/office/powerpoint/2010/main" val="1563919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0631445" y="1611875"/>
            <a:ext cx="9229561" cy="25656844"/>
          </a:xfrm>
        </p:spPr>
        <p:txBody>
          <a:bodyPr vert="eaVert"/>
          <a:lstStyle/>
          <a:p>
            <a:r>
              <a:rPr lang="de-DE"/>
              <a:t>Mastertitelformat bearbeiten</a:t>
            </a:r>
            <a:endParaRPr lang="en-US"/>
          </a:p>
        </p:txBody>
      </p:sp>
      <p:sp>
        <p:nvSpPr>
          <p:cNvPr id="3" name="Vertical Text Placeholder 2"/>
          <p:cNvSpPr>
            <a:spLocks noGrp="1"/>
          </p:cNvSpPr>
          <p:nvPr>
            <p:ph type="body" orient="vert" idx="1"/>
          </p:nvPr>
        </p:nvSpPr>
        <p:spPr>
          <a:xfrm>
            <a:off x="2942761" y="1611875"/>
            <a:ext cx="27153637" cy="25656844"/>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e Placeholder 3"/>
          <p:cNvSpPr>
            <a:spLocks noGrp="1"/>
          </p:cNvSpPr>
          <p:nvPr>
            <p:ph type="dt" sz="half" idx="10"/>
          </p:nvPr>
        </p:nvSpPr>
        <p:spPr/>
        <p:txBody>
          <a:bodyPr/>
          <a:lstStyle/>
          <a:p>
            <a:fld id="{6C21957C-E5EC-4B9A-BAB5-614B29E7C7B6}" type="datetimeFigureOut">
              <a:rPr lang="en-GB" smtClean="0"/>
              <a:t>30/06/2023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93CC16C-50C7-476B-9101-5447C4BD2D2C}" type="slidenum">
              <a:rPr lang="en-GB" smtClean="0"/>
              <a:t>‹#›</a:t>
            </a:fld>
            <a:endParaRPr lang="en-GB"/>
          </a:p>
        </p:txBody>
      </p:sp>
    </p:spTree>
    <p:extLst>
      <p:ext uri="{BB962C8B-B14F-4D97-AF65-F5344CB8AC3E}">
        <p14:creationId xmlns:p14="http://schemas.microsoft.com/office/powerpoint/2010/main" val="3989588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42759" y="1611882"/>
            <a:ext cx="36918246" cy="5851808"/>
          </a:xfrm>
          <a:prstGeom prst="rect">
            <a:avLst/>
          </a:prstGeom>
        </p:spPr>
        <p:txBody>
          <a:bodyPr vert="horz" lIns="91440" tIns="45720" rIns="91440" bIns="45720" rtlCol="0" anchor="ctr">
            <a:normAutofit/>
          </a:bodyPr>
          <a:lstStyle/>
          <a:p>
            <a:r>
              <a:rPr lang="de-DE"/>
              <a:t>Mastertitelformat bearbeiten</a:t>
            </a:r>
            <a:endParaRPr lang="en-US"/>
          </a:p>
        </p:txBody>
      </p:sp>
      <p:sp>
        <p:nvSpPr>
          <p:cNvPr id="3" name="Text Placeholder 2"/>
          <p:cNvSpPr>
            <a:spLocks noGrp="1"/>
          </p:cNvSpPr>
          <p:nvPr>
            <p:ph type="body" idx="1"/>
          </p:nvPr>
        </p:nvSpPr>
        <p:spPr>
          <a:xfrm>
            <a:off x="2942759" y="8059374"/>
            <a:ext cx="36918246" cy="19209345"/>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e Placeholder 3"/>
          <p:cNvSpPr>
            <a:spLocks noGrp="1"/>
          </p:cNvSpPr>
          <p:nvPr>
            <p:ph type="dt" sz="half" idx="2"/>
          </p:nvPr>
        </p:nvSpPr>
        <p:spPr>
          <a:xfrm>
            <a:off x="2942759" y="28060644"/>
            <a:ext cx="9630847" cy="1611875"/>
          </a:xfrm>
          <a:prstGeom prst="rect">
            <a:avLst/>
          </a:prstGeom>
        </p:spPr>
        <p:txBody>
          <a:bodyPr vert="horz" lIns="91440" tIns="45720" rIns="91440" bIns="45720" rtlCol="0" anchor="ctr"/>
          <a:lstStyle>
            <a:lvl1pPr algn="l">
              <a:defRPr sz="5298">
                <a:solidFill>
                  <a:schemeClr val="tx1">
                    <a:tint val="75000"/>
                  </a:schemeClr>
                </a:solidFill>
              </a:defRPr>
            </a:lvl1pPr>
          </a:lstStyle>
          <a:p>
            <a:fld id="{6C21957C-E5EC-4B9A-BAB5-614B29E7C7B6}" type="datetimeFigureOut">
              <a:rPr lang="en-GB" smtClean="0"/>
              <a:t>30/06/2023</a:t>
            </a:fld>
            <a:endParaRPr lang="en-GB"/>
          </a:p>
        </p:txBody>
      </p:sp>
      <p:sp>
        <p:nvSpPr>
          <p:cNvPr id="5" name="Footer Placeholder 4"/>
          <p:cNvSpPr>
            <a:spLocks noGrp="1"/>
          </p:cNvSpPr>
          <p:nvPr>
            <p:ph type="ftr" sz="quarter" idx="3"/>
          </p:nvPr>
        </p:nvSpPr>
        <p:spPr>
          <a:xfrm>
            <a:off x="14178747" y="28060644"/>
            <a:ext cx="14446270" cy="1611875"/>
          </a:xfrm>
          <a:prstGeom prst="rect">
            <a:avLst/>
          </a:prstGeom>
        </p:spPr>
        <p:txBody>
          <a:bodyPr vert="horz" lIns="91440" tIns="45720" rIns="91440" bIns="45720" rtlCol="0" anchor="ctr"/>
          <a:lstStyle>
            <a:lvl1pPr algn="ctr">
              <a:defRPr sz="5298">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30230157" y="28060644"/>
            <a:ext cx="9630847" cy="1611875"/>
          </a:xfrm>
          <a:prstGeom prst="rect">
            <a:avLst/>
          </a:prstGeom>
        </p:spPr>
        <p:txBody>
          <a:bodyPr vert="horz" lIns="91440" tIns="45720" rIns="91440" bIns="45720" rtlCol="0" anchor="ctr"/>
          <a:lstStyle>
            <a:lvl1pPr algn="r">
              <a:defRPr sz="5298">
                <a:solidFill>
                  <a:schemeClr val="tx1">
                    <a:tint val="75000"/>
                  </a:schemeClr>
                </a:solidFill>
              </a:defRPr>
            </a:lvl1pPr>
          </a:lstStyle>
          <a:p>
            <a:fld id="{093CC16C-50C7-476B-9101-5447C4BD2D2C}" type="slidenum">
              <a:rPr lang="en-GB" smtClean="0"/>
              <a:t>‹#›</a:t>
            </a:fld>
            <a:endParaRPr lang="en-GB"/>
          </a:p>
        </p:txBody>
      </p:sp>
    </p:spTree>
    <p:extLst>
      <p:ext uri="{BB962C8B-B14F-4D97-AF65-F5344CB8AC3E}">
        <p14:creationId xmlns:p14="http://schemas.microsoft.com/office/powerpoint/2010/main" val="16848156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036710" rtl="0" eaLnBrk="1" latinLnBrk="0" hangingPunct="1">
        <a:lnSpc>
          <a:spcPct val="90000"/>
        </a:lnSpc>
        <a:spcBef>
          <a:spcPct val="0"/>
        </a:spcBef>
        <a:buNone/>
        <a:defRPr sz="19424" kern="1200">
          <a:solidFill>
            <a:schemeClr val="tx1"/>
          </a:solidFill>
          <a:latin typeface="+mj-lt"/>
          <a:ea typeface="+mj-ea"/>
          <a:cs typeface="+mj-cs"/>
        </a:defRPr>
      </a:lvl1pPr>
    </p:titleStyle>
    <p:bodyStyle>
      <a:lvl1pPr marL="1009178" indent="-1009178" algn="l" defTabSz="4036710" rtl="0" eaLnBrk="1" latinLnBrk="0" hangingPunct="1">
        <a:lnSpc>
          <a:spcPct val="90000"/>
        </a:lnSpc>
        <a:spcBef>
          <a:spcPts val="4415"/>
        </a:spcBef>
        <a:buFont typeface="Arial" panose="020B0604020202020204" pitchFamily="34" charset="0"/>
        <a:buChar char="•"/>
        <a:defRPr sz="12361" kern="1200">
          <a:solidFill>
            <a:schemeClr val="tx1"/>
          </a:solidFill>
          <a:latin typeface="+mn-lt"/>
          <a:ea typeface="+mn-ea"/>
          <a:cs typeface="+mn-cs"/>
        </a:defRPr>
      </a:lvl1pPr>
      <a:lvl2pPr marL="3027533" indent="-1009178" algn="l" defTabSz="4036710" rtl="0" eaLnBrk="1" latinLnBrk="0" hangingPunct="1">
        <a:lnSpc>
          <a:spcPct val="90000"/>
        </a:lnSpc>
        <a:spcBef>
          <a:spcPts val="2207"/>
        </a:spcBef>
        <a:buFont typeface="Arial" panose="020B0604020202020204" pitchFamily="34" charset="0"/>
        <a:buChar char="•"/>
        <a:defRPr sz="10595" kern="1200">
          <a:solidFill>
            <a:schemeClr val="tx1"/>
          </a:solidFill>
          <a:latin typeface="+mn-lt"/>
          <a:ea typeface="+mn-ea"/>
          <a:cs typeface="+mn-cs"/>
        </a:defRPr>
      </a:lvl2pPr>
      <a:lvl3pPr marL="5045888" indent="-1009178" algn="l" defTabSz="4036710" rtl="0" eaLnBrk="1" latinLnBrk="0" hangingPunct="1">
        <a:lnSpc>
          <a:spcPct val="90000"/>
        </a:lnSpc>
        <a:spcBef>
          <a:spcPts val="2207"/>
        </a:spcBef>
        <a:buFont typeface="Arial" panose="020B0604020202020204" pitchFamily="34" charset="0"/>
        <a:buChar char="•"/>
        <a:defRPr sz="8829" kern="1200">
          <a:solidFill>
            <a:schemeClr val="tx1"/>
          </a:solidFill>
          <a:latin typeface="+mn-lt"/>
          <a:ea typeface="+mn-ea"/>
          <a:cs typeface="+mn-cs"/>
        </a:defRPr>
      </a:lvl3pPr>
      <a:lvl4pPr marL="7064243" indent="-1009178" algn="l" defTabSz="4036710" rtl="0" eaLnBrk="1" latinLnBrk="0" hangingPunct="1">
        <a:lnSpc>
          <a:spcPct val="90000"/>
        </a:lnSpc>
        <a:spcBef>
          <a:spcPts val="2207"/>
        </a:spcBef>
        <a:buFont typeface="Arial" panose="020B0604020202020204" pitchFamily="34" charset="0"/>
        <a:buChar char="•"/>
        <a:defRPr sz="7946" kern="1200">
          <a:solidFill>
            <a:schemeClr val="tx1"/>
          </a:solidFill>
          <a:latin typeface="+mn-lt"/>
          <a:ea typeface="+mn-ea"/>
          <a:cs typeface="+mn-cs"/>
        </a:defRPr>
      </a:lvl4pPr>
      <a:lvl5pPr marL="9082598" indent="-1009178" algn="l" defTabSz="4036710" rtl="0" eaLnBrk="1" latinLnBrk="0" hangingPunct="1">
        <a:lnSpc>
          <a:spcPct val="90000"/>
        </a:lnSpc>
        <a:spcBef>
          <a:spcPts val="2207"/>
        </a:spcBef>
        <a:buFont typeface="Arial" panose="020B0604020202020204" pitchFamily="34" charset="0"/>
        <a:buChar char="•"/>
        <a:defRPr sz="7946" kern="1200">
          <a:solidFill>
            <a:schemeClr val="tx1"/>
          </a:solidFill>
          <a:latin typeface="+mn-lt"/>
          <a:ea typeface="+mn-ea"/>
          <a:cs typeface="+mn-cs"/>
        </a:defRPr>
      </a:lvl5pPr>
      <a:lvl6pPr marL="11100953" indent="-1009178" algn="l" defTabSz="4036710" rtl="0" eaLnBrk="1" latinLnBrk="0" hangingPunct="1">
        <a:lnSpc>
          <a:spcPct val="90000"/>
        </a:lnSpc>
        <a:spcBef>
          <a:spcPts val="2207"/>
        </a:spcBef>
        <a:buFont typeface="Arial" panose="020B0604020202020204" pitchFamily="34" charset="0"/>
        <a:buChar char="•"/>
        <a:defRPr sz="7946" kern="1200">
          <a:solidFill>
            <a:schemeClr val="tx1"/>
          </a:solidFill>
          <a:latin typeface="+mn-lt"/>
          <a:ea typeface="+mn-ea"/>
          <a:cs typeface="+mn-cs"/>
        </a:defRPr>
      </a:lvl6pPr>
      <a:lvl7pPr marL="13119308" indent="-1009178" algn="l" defTabSz="4036710" rtl="0" eaLnBrk="1" latinLnBrk="0" hangingPunct="1">
        <a:lnSpc>
          <a:spcPct val="90000"/>
        </a:lnSpc>
        <a:spcBef>
          <a:spcPts val="2207"/>
        </a:spcBef>
        <a:buFont typeface="Arial" panose="020B0604020202020204" pitchFamily="34" charset="0"/>
        <a:buChar char="•"/>
        <a:defRPr sz="7946" kern="1200">
          <a:solidFill>
            <a:schemeClr val="tx1"/>
          </a:solidFill>
          <a:latin typeface="+mn-lt"/>
          <a:ea typeface="+mn-ea"/>
          <a:cs typeface="+mn-cs"/>
        </a:defRPr>
      </a:lvl7pPr>
      <a:lvl8pPr marL="15137663" indent="-1009178" algn="l" defTabSz="4036710" rtl="0" eaLnBrk="1" latinLnBrk="0" hangingPunct="1">
        <a:lnSpc>
          <a:spcPct val="90000"/>
        </a:lnSpc>
        <a:spcBef>
          <a:spcPts val="2207"/>
        </a:spcBef>
        <a:buFont typeface="Arial" panose="020B0604020202020204" pitchFamily="34" charset="0"/>
        <a:buChar char="•"/>
        <a:defRPr sz="7946" kern="1200">
          <a:solidFill>
            <a:schemeClr val="tx1"/>
          </a:solidFill>
          <a:latin typeface="+mn-lt"/>
          <a:ea typeface="+mn-ea"/>
          <a:cs typeface="+mn-cs"/>
        </a:defRPr>
      </a:lvl8pPr>
      <a:lvl9pPr marL="17156019" indent="-1009178" algn="l" defTabSz="4036710" rtl="0" eaLnBrk="1" latinLnBrk="0" hangingPunct="1">
        <a:lnSpc>
          <a:spcPct val="90000"/>
        </a:lnSpc>
        <a:spcBef>
          <a:spcPts val="2207"/>
        </a:spcBef>
        <a:buFont typeface="Arial" panose="020B0604020202020204" pitchFamily="34" charset="0"/>
        <a:buChar char="•"/>
        <a:defRPr sz="7946" kern="1200">
          <a:solidFill>
            <a:schemeClr val="tx1"/>
          </a:solidFill>
          <a:latin typeface="+mn-lt"/>
          <a:ea typeface="+mn-ea"/>
          <a:cs typeface="+mn-cs"/>
        </a:defRPr>
      </a:lvl9pPr>
    </p:bodyStyle>
    <p:otherStyle>
      <a:defPPr>
        <a:defRPr lang="en-US"/>
      </a:defPPr>
      <a:lvl1pPr marL="0" algn="l" defTabSz="4036710" rtl="0" eaLnBrk="1" latinLnBrk="0" hangingPunct="1">
        <a:defRPr sz="7946" kern="1200">
          <a:solidFill>
            <a:schemeClr val="tx1"/>
          </a:solidFill>
          <a:latin typeface="+mn-lt"/>
          <a:ea typeface="+mn-ea"/>
          <a:cs typeface="+mn-cs"/>
        </a:defRPr>
      </a:lvl1pPr>
      <a:lvl2pPr marL="2018355" algn="l" defTabSz="4036710" rtl="0" eaLnBrk="1" latinLnBrk="0" hangingPunct="1">
        <a:defRPr sz="7946" kern="1200">
          <a:solidFill>
            <a:schemeClr val="tx1"/>
          </a:solidFill>
          <a:latin typeface="+mn-lt"/>
          <a:ea typeface="+mn-ea"/>
          <a:cs typeface="+mn-cs"/>
        </a:defRPr>
      </a:lvl2pPr>
      <a:lvl3pPr marL="4036710" algn="l" defTabSz="4036710" rtl="0" eaLnBrk="1" latinLnBrk="0" hangingPunct="1">
        <a:defRPr sz="7946" kern="1200">
          <a:solidFill>
            <a:schemeClr val="tx1"/>
          </a:solidFill>
          <a:latin typeface="+mn-lt"/>
          <a:ea typeface="+mn-ea"/>
          <a:cs typeface="+mn-cs"/>
        </a:defRPr>
      </a:lvl3pPr>
      <a:lvl4pPr marL="6055065" algn="l" defTabSz="4036710" rtl="0" eaLnBrk="1" latinLnBrk="0" hangingPunct="1">
        <a:defRPr sz="7946" kern="1200">
          <a:solidFill>
            <a:schemeClr val="tx1"/>
          </a:solidFill>
          <a:latin typeface="+mn-lt"/>
          <a:ea typeface="+mn-ea"/>
          <a:cs typeface="+mn-cs"/>
        </a:defRPr>
      </a:lvl4pPr>
      <a:lvl5pPr marL="8073420" algn="l" defTabSz="4036710" rtl="0" eaLnBrk="1" latinLnBrk="0" hangingPunct="1">
        <a:defRPr sz="7946" kern="1200">
          <a:solidFill>
            <a:schemeClr val="tx1"/>
          </a:solidFill>
          <a:latin typeface="+mn-lt"/>
          <a:ea typeface="+mn-ea"/>
          <a:cs typeface="+mn-cs"/>
        </a:defRPr>
      </a:lvl5pPr>
      <a:lvl6pPr marL="10091776" algn="l" defTabSz="4036710" rtl="0" eaLnBrk="1" latinLnBrk="0" hangingPunct="1">
        <a:defRPr sz="7946" kern="1200">
          <a:solidFill>
            <a:schemeClr val="tx1"/>
          </a:solidFill>
          <a:latin typeface="+mn-lt"/>
          <a:ea typeface="+mn-ea"/>
          <a:cs typeface="+mn-cs"/>
        </a:defRPr>
      </a:lvl6pPr>
      <a:lvl7pPr marL="12110131" algn="l" defTabSz="4036710" rtl="0" eaLnBrk="1" latinLnBrk="0" hangingPunct="1">
        <a:defRPr sz="7946" kern="1200">
          <a:solidFill>
            <a:schemeClr val="tx1"/>
          </a:solidFill>
          <a:latin typeface="+mn-lt"/>
          <a:ea typeface="+mn-ea"/>
          <a:cs typeface="+mn-cs"/>
        </a:defRPr>
      </a:lvl7pPr>
      <a:lvl8pPr marL="14128486" algn="l" defTabSz="4036710" rtl="0" eaLnBrk="1" latinLnBrk="0" hangingPunct="1">
        <a:defRPr sz="7946" kern="1200">
          <a:solidFill>
            <a:schemeClr val="tx1"/>
          </a:solidFill>
          <a:latin typeface="+mn-lt"/>
          <a:ea typeface="+mn-ea"/>
          <a:cs typeface="+mn-cs"/>
        </a:defRPr>
      </a:lvl8pPr>
      <a:lvl9pPr marL="16146841" algn="l" defTabSz="4036710" rtl="0" eaLnBrk="1" latinLnBrk="0" hangingPunct="1">
        <a:defRPr sz="794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70">
            <a:extLst>
              <a:ext uri="{FF2B5EF4-FFF2-40B4-BE49-F238E27FC236}">
                <a16:creationId xmlns:a16="http://schemas.microsoft.com/office/drawing/2014/main" id="{D533D1DC-2995-CE3A-1DDD-257FFBD8C178}"/>
              </a:ext>
            </a:extLst>
          </p:cNvPr>
          <p:cNvSpPr/>
          <p:nvPr/>
        </p:nvSpPr>
        <p:spPr>
          <a:xfrm>
            <a:off x="33225340" y="5244354"/>
            <a:ext cx="8767365" cy="14639804"/>
          </a:xfrm>
          <a:prstGeom prst="roundRect">
            <a:avLst>
              <a:gd name="adj" fmla="val 3948"/>
            </a:avLst>
          </a:prstGeom>
          <a:solidFill>
            <a:srgbClr val="E3E3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p>
        </p:txBody>
      </p:sp>
      <p:sp>
        <p:nvSpPr>
          <p:cNvPr id="31" name="Rectangle 71">
            <a:extLst>
              <a:ext uri="{FF2B5EF4-FFF2-40B4-BE49-F238E27FC236}">
                <a16:creationId xmlns:a16="http://schemas.microsoft.com/office/drawing/2014/main" id="{54C9378B-4799-2309-A709-9EB7169C2069}"/>
              </a:ext>
            </a:extLst>
          </p:cNvPr>
          <p:cNvSpPr/>
          <p:nvPr/>
        </p:nvSpPr>
        <p:spPr>
          <a:xfrm>
            <a:off x="0" y="0"/>
            <a:ext cx="42803763" cy="4761537"/>
          </a:xfrm>
          <a:prstGeom prst="rect">
            <a:avLst/>
          </a:prstGeom>
          <a:solidFill>
            <a:srgbClr val="A0BEC8"/>
          </a:solidFill>
          <a:ln>
            <a:noFill/>
          </a:ln>
        </p:spPr>
        <p:style>
          <a:lnRef idx="2">
            <a:schemeClr val="accent1">
              <a:shade val="50000"/>
            </a:schemeClr>
          </a:lnRef>
          <a:fillRef idx="1">
            <a:schemeClr val="accent1"/>
          </a:fillRef>
          <a:effectRef idx="0">
            <a:schemeClr val="accent1"/>
          </a:effectRef>
          <a:fontRef idx="minor">
            <a:schemeClr val="lt1"/>
          </a:fontRef>
        </p:style>
        <p:txBody>
          <a:bodyPr lIns="128016" tIns="64008" rIns="128016" bIns="64008" rtlCol="0" anchor="ctr"/>
          <a:lstStyle>
            <a:defPPr>
              <a:defRPr kern="1200"/>
            </a:defPPr>
          </a:lstStyle>
          <a:p>
            <a:pPr algn="ctr"/>
            <a:endParaRPr lang="en-US"/>
          </a:p>
        </p:txBody>
      </p:sp>
      <p:sp>
        <p:nvSpPr>
          <p:cNvPr id="32" name="Title 11">
            <a:extLst>
              <a:ext uri="{FF2B5EF4-FFF2-40B4-BE49-F238E27FC236}">
                <a16:creationId xmlns:a16="http://schemas.microsoft.com/office/drawing/2014/main" id="{7639A75E-230F-4961-E5C6-919925223E72}"/>
              </a:ext>
            </a:extLst>
          </p:cNvPr>
          <p:cNvSpPr txBox="1"/>
          <p:nvPr/>
        </p:nvSpPr>
        <p:spPr>
          <a:xfrm>
            <a:off x="1371600" y="463235"/>
            <a:ext cx="41148000" cy="2411994"/>
          </a:xfrm>
          <a:prstGeom prst="rect">
            <a:avLst/>
          </a:prstGeom>
        </p:spPr>
        <p:txBody>
          <a:bodyPr lIns="128016" tIns="64008" rIns="128016" bIns="64008"/>
          <a:lstStyle>
            <a:defPPr>
              <a:defRPr kern="1200"/>
            </a:defPPr>
            <a:lvl1pPr algn="ctr" defTabSz="4389028" rtl="0" eaLnBrk="1" latinLnBrk="0" hangingPunct="1">
              <a:spcBef>
                <a:spcPct val="0"/>
              </a:spcBef>
              <a:buNone/>
              <a:defRPr sz="13400" kern="1200">
                <a:solidFill>
                  <a:schemeClr val="tx1"/>
                </a:solidFill>
                <a:latin typeface="+mj-lt"/>
                <a:ea typeface="+mj-ea"/>
                <a:cs typeface="+mj-cs"/>
              </a:defRPr>
            </a:lvl1pPr>
          </a:lstStyle>
          <a:p>
            <a:r>
              <a:rPr lang="en-US" sz="11500">
                <a:solidFill>
                  <a:schemeClr val="bg1"/>
                </a:solidFill>
                <a:latin typeface="Domine" panose="02040503040403060204"/>
              </a:rPr>
              <a:t>Machine learning detection of cancer in liquid biopsies</a:t>
            </a:r>
          </a:p>
        </p:txBody>
      </p:sp>
      <p:sp>
        <p:nvSpPr>
          <p:cNvPr id="33" name="Text Placeholder 16">
            <a:extLst>
              <a:ext uri="{FF2B5EF4-FFF2-40B4-BE49-F238E27FC236}">
                <a16:creationId xmlns:a16="http://schemas.microsoft.com/office/drawing/2014/main" id="{A9F48CED-CF9C-2821-E10A-8383B2753664}"/>
              </a:ext>
            </a:extLst>
          </p:cNvPr>
          <p:cNvSpPr txBox="1"/>
          <p:nvPr/>
        </p:nvSpPr>
        <p:spPr>
          <a:xfrm>
            <a:off x="1371600" y="2362578"/>
            <a:ext cx="41148000" cy="1852815"/>
          </a:xfrm>
          <a:prstGeom prst="rect">
            <a:avLst/>
          </a:prstGeom>
        </p:spPr>
        <p:txBody>
          <a:bodyPr lIns="128016" tIns="64008" rIns="128016" bIns="64008">
            <a:spAutoFit/>
          </a:bodyPr>
          <a:lstStyle>
            <a:defPPr>
              <a:defRPr kern="1200"/>
            </a:defPPr>
            <a:lvl1pPr marL="0" indent="0" algn="l" defTabSz="4389028" rtl="0" eaLnBrk="1" latinLnBrk="0" hangingPunct="1">
              <a:spcBef>
                <a:spcPct val="20000"/>
              </a:spcBef>
              <a:buFont typeface="Arial" pitchFamily="34" charset="0"/>
              <a:buNone/>
              <a:defRPr sz="13400" kern="1200" baseline="0">
                <a:solidFill>
                  <a:schemeClr val="tx1"/>
                </a:solidFill>
                <a:latin typeface="+mn-lt"/>
                <a:ea typeface="+mn-ea"/>
                <a:cs typeface="+mn-cs"/>
              </a:defRPr>
            </a:lvl1pPr>
            <a:lvl2pPr marL="3566086" indent="-1371572" algn="l" defTabSz="4389028" rtl="0" eaLnBrk="1" latinLnBrk="0" hangingPunct="1">
              <a:spcBef>
                <a:spcPct val="20000"/>
              </a:spcBef>
              <a:buFont typeface="Arial" pitchFamily="34" charset="0"/>
              <a:buChar char="–"/>
              <a:defRPr sz="13400" kern="1200">
                <a:solidFill>
                  <a:schemeClr val="tx1"/>
                </a:solidFill>
                <a:latin typeface="+mn-lt"/>
                <a:ea typeface="+mn-ea"/>
                <a:cs typeface="+mn-cs"/>
              </a:defRPr>
            </a:lvl2pPr>
            <a:lvl3pPr marL="5486286" indent="-1097257" algn="l" defTabSz="4389028" rtl="0" eaLnBrk="1" latinLnBrk="0" hangingPunct="1">
              <a:spcBef>
                <a:spcPct val="20000"/>
              </a:spcBef>
              <a:buFont typeface="Arial" pitchFamily="34" charset="0"/>
              <a:buChar char="•"/>
              <a:defRPr sz="11500" kern="1200">
                <a:solidFill>
                  <a:schemeClr val="tx1"/>
                </a:solidFill>
                <a:latin typeface="+mn-lt"/>
                <a:ea typeface="+mn-ea"/>
                <a:cs typeface="+mn-cs"/>
              </a:defRPr>
            </a:lvl3pPr>
            <a:lvl4pPr marL="7680800"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4pPr>
            <a:lvl5pPr marL="9875314"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5pPr>
            <a:lvl6pPr marL="12069828"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6pPr>
            <a:lvl7pPr marL="14264342"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7pPr>
            <a:lvl8pPr marL="16458857"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8pPr>
            <a:lvl9pPr marL="18653371"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9pPr>
          </a:lstStyle>
          <a:p>
            <a:pPr algn="ctr"/>
            <a:r>
              <a:rPr lang="en-US" sz="5600">
                <a:solidFill>
                  <a:schemeClr val="bg1"/>
                </a:solidFill>
                <a:latin typeface="Domine" panose="02040503040403060204" pitchFamily="18" charset="0"/>
              </a:rPr>
              <a:t>Pascal </a:t>
            </a:r>
            <a:r>
              <a:rPr lang="en-US" sz="5600" err="1">
                <a:solidFill>
                  <a:schemeClr val="bg1"/>
                </a:solidFill>
                <a:latin typeface="Domine" panose="02040503040403060204" pitchFamily="18" charset="0"/>
              </a:rPr>
              <a:t>Bärtschi</a:t>
            </a:r>
            <a:r>
              <a:rPr lang="en-US" sz="5600">
                <a:solidFill>
                  <a:schemeClr val="bg1"/>
                </a:solidFill>
                <a:latin typeface="Domine" panose="02040503040403060204" pitchFamily="18" charset="0"/>
              </a:rPr>
              <a:t> and Alina Martin</a:t>
            </a:r>
            <a:br>
              <a:rPr lang="en-US" sz="5600">
                <a:solidFill>
                  <a:schemeClr val="bg1"/>
                </a:solidFill>
                <a:latin typeface="Domine" panose="02040503040403060204" pitchFamily="18" charset="0"/>
              </a:rPr>
            </a:br>
            <a:r>
              <a:rPr lang="en-US" sz="5600">
                <a:solidFill>
                  <a:schemeClr val="bg1"/>
                </a:solidFill>
                <a:latin typeface="Domine" panose="02040503040403060204" pitchFamily="18" charset="0"/>
              </a:rPr>
              <a:t>Department of Quantitative Biomedicine, University of Zurich</a:t>
            </a:r>
          </a:p>
        </p:txBody>
      </p:sp>
      <p:sp>
        <p:nvSpPr>
          <p:cNvPr id="34" name="Rectangle: Rounded Corners 70">
            <a:extLst>
              <a:ext uri="{FF2B5EF4-FFF2-40B4-BE49-F238E27FC236}">
                <a16:creationId xmlns:a16="http://schemas.microsoft.com/office/drawing/2014/main" id="{30F7B0AE-D2EC-3E80-B401-9E02E087DF6B}"/>
              </a:ext>
            </a:extLst>
          </p:cNvPr>
          <p:cNvSpPr/>
          <p:nvPr/>
        </p:nvSpPr>
        <p:spPr>
          <a:xfrm>
            <a:off x="33233363" y="26132588"/>
            <a:ext cx="8843502" cy="3604683"/>
          </a:xfrm>
          <a:prstGeom prst="roundRect">
            <a:avLst>
              <a:gd name="adj" fmla="val 3948"/>
            </a:avLst>
          </a:prstGeom>
          <a:solidFill>
            <a:srgbClr val="E3E3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p>
        </p:txBody>
      </p:sp>
      <p:sp>
        <p:nvSpPr>
          <p:cNvPr id="36" name="TextBox 59">
            <a:extLst>
              <a:ext uri="{FF2B5EF4-FFF2-40B4-BE49-F238E27FC236}">
                <a16:creationId xmlns:a16="http://schemas.microsoft.com/office/drawing/2014/main" id="{3ED0F953-CFFD-515C-40F5-88F22E506D71}"/>
              </a:ext>
            </a:extLst>
          </p:cNvPr>
          <p:cNvSpPr txBox="1"/>
          <p:nvPr/>
        </p:nvSpPr>
        <p:spPr>
          <a:xfrm>
            <a:off x="33567407" y="26361776"/>
            <a:ext cx="9144000" cy="461665"/>
          </a:xfrm>
          <a:prstGeom prst="rect">
            <a:avLst/>
          </a:prstGeom>
          <a:noFill/>
        </p:spPr>
        <p:txBody>
          <a:bodyPr wrap="square" rtlCol="0">
            <a:spAutoFit/>
          </a:bodyPr>
          <a:lstStyle>
            <a:defPPr>
              <a:defRPr kern="1200"/>
            </a:defPPr>
          </a:lstStyle>
          <a:p>
            <a:r>
              <a:rPr lang="de-DE" sz="2400" b="1">
                <a:solidFill>
                  <a:schemeClr val="tx1">
                    <a:lumMod val="75000"/>
                    <a:lumOff val="25000"/>
                  </a:schemeClr>
                </a:solidFill>
                <a:latin typeface="Montserrat Extra Bold" panose="00000900000000000000" pitchFamily="50" charset="0"/>
              </a:rPr>
              <a:t>References </a:t>
            </a:r>
            <a:endParaRPr lang="en-US" sz="2400" b="1">
              <a:solidFill>
                <a:schemeClr val="tx1">
                  <a:lumMod val="75000"/>
                  <a:lumOff val="25000"/>
                </a:schemeClr>
              </a:solidFill>
              <a:latin typeface="Montserrat Extra Bold" panose="00000900000000000000" pitchFamily="50" charset="0"/>
            </a:endParaRPr>
          </a:p>
        </p:txBody>
      </p:sp>
      <p:sp>
        <p:nvSpPr>
          <p:cNvPr id="37" name="Rectangle: Rounded Corners 41">
            <a:extLst>
              <a:ext uri="{FF2B5EF4-FFF2-40B4-BE49-F238E27FC236}">
                <a16:creationId xmlns:a16="http://schemas.microsoft.com/office/drawing/2014/main" id="{70DB29A7-677C-69CB-7B3C-5C5A56325364}"/>
              </a:ext>
            </a:extLst>
          </p:cNvPr>
          <p:cNvSpPr/>
          <p:nvPr/>
        </p:nvSpPr>
        <p:spPr>
          <a:xfrm>
            <a:off x="33188855" y="20283347"/>
            <a:ext cx="8888010" cy="5487122"/>
          </a:xfrm>
          <a:prstGeom prst="roundRect">
            <a:avLst>
              <a:gd name="adj" fmla="val 1477"/>
            </a:avLst>
          </a:prstGeom>
          <a:solidFill>
            <a:srgbClr val="A0BEC8">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p>
        </p:txBody>
      </p:sp>
      <p:sp>
        <p:nvSpPr>
          <p:cNvPr id="38" name="TextBox 60">
            <a:extLst>
              <a:ext uri="{FF2B5EF4-FFF2-40B4-BE49-F238E27FC236}">
                <a16:creationId xmlns:a16="http://schemas.microsoft.com/office/drawing/2014/main" id="{B7C157B5-3B5C-9B28-F692-A0778E1E2E6A}"/>
              </a:ext>
            </a:extLst>
          </p:cNvPr>
          <p:cNvSpPr txBox="1"/>
          <p:nvPr/>
        </p:nvSpPr>
        <p:spPr>
          <a:xfrm>
            <a:off x="33567407" y="26796808"/>
            <a:ext cx="7994342" cy="2462213"/>
          </a:xfrm>
          <a:prstGeom prst="rect">
            <a:avLst/>
          </a:prstGeom>
          <a:noFill/>
        </p:spPr>
        <p:txBody>
          <a:bodyPr wrap="square" rtlCol="0">
            <a:spAutoFit/>
          </a:bodyPr>
          <a:lstStyle>
            <a:defPPr>
              <a:defRPr kern="1200"/>
            </a:defPPr>
          </a:lstStyle>
          <a:p>
            <a:pPr marL="457200" indent="-457200">
              <a:buFont typeface="+mj-lt"/>
              <a:buAutoNum type="arabicPeriod"/>
            </a:pPr>
            <a:r>
              <a:rPr lang="en-US" sz="140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Lo, Y. M. D. et al. Epigenetics, </a:t>
            </a:r>
            <a:r>
              <a:rPr lang="en-US" sz="1400" err="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fragmentomics</a:t>
            </a:r>
            <a:r>
              <a:rPr lang="en-US" sz="140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and topology of cell-free DNA in liquid biopsies. </a:t>
            </a:r>
            <a:r>
              <a:rPr lang="en-US" sz="1400" i="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Science</a:t>
            </a:r>
            <a:r>
              <a:rPr lang="en-US" sz="140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t>
            </a:r>
            <a:r>
              <a:rPr lang="en-US" sz="1400" b="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372</a:t>
            </a:r>
            <a:r>
              <a:rPr lang="en-US" sz="140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eaaw3616. (2021). https://doi.org/10.1126/science.aaw3616</a:t>
            </a:r>
          </a:p>
          <a:p>
            <a:pPr marL="457200" indent="-457200">
              <a:buFont typeface="+mj-lt"/>
              <a:buAutoNum type="arabicPeriod"/>
            </a:pPr>
            <a:r>
              <a:rPr lang="en-US" sz="140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Cristiano, S. et al. Genome-wide cell-free DNA fragmentation in patients with cancer. </a:t>
            </a:r>
            <a:r>
              <a:rPr lang="en-US" sz="1400" i="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Nature</a:t>
            </a:r>
            <a:r>
              <a:rPr lang="en-US" sz="140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t>
            </a:r>
            <a:r>
              <a:rPr lang="en-US" sz="1400" b="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570</a:t>
            </a:r>
            <a:r>
              <a:rPr lang="en-US" sz="140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385–389 (2019). https://doi.org/10.1038/s41586-019-1272-6</a:t>
            </a:r>
          </a:p>
          <a:p>
            <a:pPr marL="457200" indent="-457200">
              <a:buFont typeface="+mj-lt"/>
              <a:buAutoNum type="arabicPeriod"/>
            </a:pPr>
            <a:r>
              <a:rPr lang="en-US" sz="1400" err="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Adalsteinsson</a:t>
            </a:r>
            <a:r>
              <a:rPr lang="en-US" sz="140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V.A. et al. Scalable whole-exome sequencing of cell-free DNA reveals high concordance with metastatic tumors. </a:t>
            </a:r>
            <a:r>
              <a:rPr lang="en-US" sz="1400" i="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Nat </a:t>
            </a:r>
            <a:r>
              <a:rPr lang="en-US" sz="1400" i="1" err="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Commun</a:t>
            </a:r>
            <a:r>
              <a:rPr lang="en-US" sz="1400" i="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t>
            </a:r>
            <a:r>
              <a:rPr lang="en-US" sz="1400" b="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8</a:t>
            </a:r>
            <a:r>
              <a:rPr lang="en-US" sz="140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1324 (2017). https://doi.org/10.1038/s41467-017-00965-y</a:t>
            </a:r>
          </a:p>
          <a:p>
            <a:pPr marL="457200" indent="-457200">
              <a:buFont typeface="+mj-lt"/>
              <a:buAutoNum type="arabicPeriod"/>
            </a:pPr>
            <a:r>
              <a:rPr lang="en-US" sz="1400" err="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Peneder</a:t>
            </a:r>
            <a:r>
              <a:rPr lang="en-US" sz="140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P. et al. LIQUORICE: detection of epigenetic signatures in liquid biopsies based on whole-genome sequencing data, </a:t>
            </a:r>
            <a:r>
              <a:rPr lang="en-US" sz="1400" i="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Bioinformatics Advances </a:t>
            </a:r>
            <a:r>
              <a:rPr lang="en-US" sz="1400" b="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2</a:t>
            </a:r>
            <a:r>
              <a:rPr lang="en-US" sz="140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(2022) vbac017, https://doi.org/10.1093/bioadv/vbac017</a:t>
            </a:r>
          </a:p>
          <a:p>
            <a:pPr marL="457200" indent="-457200">
              <a:buFont typeface="+mj-lt"/>
              <a:buAutoNum type="arabicPeriod"/>
            </a:pPr>
            <a:r>
              <a:rPr lang="en-US" sz="1400" err="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Buitinck</a:t>
            </a:r>
            <a:r>
              <a:rPr lang="en-US" sz="140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L. et al. API design for machine learning software: experiences from the scikit-learn project. In: ECML PKDD Workshop: Languages for Data Mining and Machine Learning, 108–22 (2013)</a:t>
            </a:r>
          </a:p>
        </p:txBody>
      </p:sp>
      <p:sp>
        <p:nvSpPr>
          <p:cNvPr id="39" name="TextBox 82">
            <a:extLst>
              <a:ext uri="{FF2B5EF4-FFF2-40B4-BE49-F238E27FC236}">
                <a16:creationId xmlns:a16="http://schemas.microsoft.com/office/drawing/2014/main" id="{E387E8F4-4556-1D41-B2BE-3CEE6BD2D0D8}"/>
              </a:ext>
            </a:extLst>
          </p:cNvPr>
          <p:cNvSpPr txBox="1"/>
          <p:nvPr/>
        </p:nvSpPr>
        <p:spPr>
          <a:xfrm>
            <a:off x="33577871" y="20467052"/>
            <a:ext cx="9144000" cy="646331"/>
          </a:xfrm>
          <a:prstGeom prst="rect">
            <a:avLst/>
          </a:prstGeom>
          <a:noFill/>
        </p:spPr>
        <p:txBody>
          <a:bodyPr wrap="square" rtlCol="0">
            <a:spAutoFit/>
          </a:bodyPr>
          <a:lstStyle>
            <a:defPPr>
              <a:defRPr kern="1200"/>
            </a:defPPr>
          </a:lstStyle>
          <a:p>
            <a:r>
              <a:rPr lang="en-US" sz="3600" b="1">
                <a:solidFill>
                  <a:schemeClr val="tx1">
                    <a:lumMod val="75000"/>
                    <a:lumOff val="25000"/>
                  </a:schemeClr>
                </a:solidFill>
                <a:latin typeface="Montserrat Extra Bold" panose="00000900000000000000" pitchFamily="50" charset="0"/>
              </a:rPr>
              <a:t>Conclusion</a:t>
            </a:r>
          </a:p>
        </p:txBody>
      </p:sp>
      <p:sp>
        <p:nvSpPr>
          <p:cNvPr id="43" name="Rectangle: Rounded Corners 38">
            <a:extLst>
              <a:ext uri="{FF2B5EF4-FFF2-40B4-BE49-F238E27FC236}">
                <a16:creationId xmlns:a16="http://schemas.microsoft.com/office/drawing/2014/main" id="{9E18C5E4-A3D8-2D17-2769-4495F14B5B96}"/>
              </a:ext>
            </a:extLst>
          </p:cNvPr>
          <p:cNvSpPr/>
          <p:nvPr/>
        </p:nvSpPr>
        <p:spPr>
          <a:xfrm>
            <a:off x="805871" y="5244355"/>
            <a:ext cx="10058400" cy="7035971"/>
          </a:xfrm>
          <a:prstGeom prst="roundRect">
            <a:avLst>
              <a:gd name="adj" fmla="val 1711"/>
            </a:avLst>
          </a:prstGeom>
          <a:solidFill>
            <a:srgbClr val="A0BEC8">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p>
        </p:txBody>
      </p:sp>
      <p:sp>
        <p:nvSpPr>
          <p:cNvPr id="46" name="Rectangle: Rounded Corners 42">
            <a:extLst>
              <a:ext uri="{FF2B5EF4-FFF2-40B4-BE49-F238E27FC236}">
                <a16:creationId xmlns:a16="http://schemas.microsoft.com/office/drawing/2014/main" id="{8154AA6C-B2B6-1E4D-1887-EBDC16C5522E}"/>
              </a:ext>
            </a:extLst>
          </p:cNvPr>
          <p:cNvSpPr/>
          <p:nvPr/>
        </p:nvSpPr>
        <p:spPr>
          <a:xfrm>
            <a:off x="805871" y="12850978"/>
            <a:ext cx="10131527" cy="16886293"/>
          </a:xfrm>
          <a:prstGeom prst="roundRect">
            <a:avLst>
              <a:gd name="adj" fmla="val 2004"/>
            </a:avLst>
          </a:prstGeom>
          <a:solidFill>
            <a:srgbClr val="E3E3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p>
        </p:txBody>
      </p:sp>
      <p:sp>
        <p:nvSpPr>
          <p:cNvPr id="47" name="TextBox 85">
            <a:extLst>
              <a:ext uri="{FF2B5EF4-FFF2-40B4-BE49-F238E27FC236}">
                <a16:creationId xmlns:a16="http://schemas.microsoft.com/office/drawing/2014/main" id="{5EE536FB-2657-DDD5-AEA4-F4ABBE87AC11}"/>
              </a:ext>
            </a:extLst>
          </p:cNvPr>
          <p:cNvSpPr txBox="1"/>
          <p:nvPr/>
        </p:nvSpPr>
        <p:spPr>
          <a:xfrm>
            <a:off x="1328261" y="6206989"/>
            <a:ext cx="9000000" cy="5693866"/>
          </a:xfrm>
          <a:prstGeom prst="rect">
            <a:avLst/>
          </a:prstGeom>
          <a:noFill/>
        </p:spPr>
        <p:txBody>
          <a:bodyPr wrap="square" rtlCol="0">
            <a:spAutoFit/>
          </a:bodyPr>
          <a:lstStyle>
            <a:defPPr>
              <a:defRPr kern="1200"/>
            </a:defPPr>
          </a:lstStyle>
          <a:p>
            <a:pPr algn="just"/>
            <a:r>
              <a:rPr lang="en-GB" sz="2800">
                <a:latin typeface="Domine" panose="02040503040403060204"/>
                <a:ea typeface="Open Sans" panose="020B0606030504020204" pitchFamily="34" charset="0"/>
                <a:cs typeface="Arial" panose="020B0604020202020204" pitchFamily="34" charset="0"/>
              </a:rPr>
              <a:t>Analysing </a:t>
            </a:r>
            <a:r>
              <a:rPr lang="en-GB" sz="2800" b="1">
                <a:latin typeface="Domine" panose="02040503040403060204"/>
                <a:ea typeface="Open Sans" panose="020B0606030504020204" pitchFamily="34" charset="0"/>
                <a:cs typeface="Arial" panose="020B0604020202020204" pitchFamily="34" charset="0"/>
              </a:rPr>
              <a:t>cell-free DNA </a:t>
            </a:r>
            <a:r>
              <a:rPr lang="en-GB" sz="2800">
                <a:latin typeface="Domine" panose="02040503040403060204"/>
                <a:ea typeface="Open Sans" panose="020B0606030504020204" pitchFamily="34" charset="0"/>
                <a:cs typeface="Arial" panose="020B0604020202020204" pitchFamily="34" charset="0"/>
              </a:rPr>
              <a:t>(cfDNA) in liquid biopsies is a cutting edge approach in cancer care. The analysis of cfDNA fragmentation patterns has been shown to provide additional information compared to mutation-based approaches like somatic mutation calling or copy number analysis (CNA).</a:t>
            </a:r>
          </a:p>
          <a:p>
            <a:pPr algn="just"/>
            <a:r>
              <a:rPr lang="en-GB" sz="2800">
                <a:latin typeface="Domine" panose="02040503040403060204"/>
                <a:ea typeface="Open Sans" panose="020B0606030504020204" pitchFamily="34" charset="0"/>
                <a:cs typeface="Arial" panose="020B0604020202020204" pitchFamily="34" charset="0"/>
              </a:rPr>
              <a:t>cfDNA fragmentation patterns provide information about the </a:t>
            </a:r>
            <a:r>
              <a:rPr lang="en-GB" sz="2800" b="1">
                <a:latin typeface="Domine" panose="02040503040403060204"/>
                <a:ea typeface="Open Sans" panose="020B0606030504020204" pitchFamily="34" charset="0"/>
                <a:cs typeface="Arial" panose="020B0604020202020204" pitchFamily="34" charset="0"/>
              </a:rPr>
              <a:t>presence </a:t>
            </a:r>
            <a:r>
              <a:rPr lang="en-GB" sz="2800">
                <a:latin typeface="Domine" panose="02040503040403060204"/>
                <a:ea typeface="Open Sans" panose="020B0606030504020204" pitchFamily="34" charset="0"/>
                <a:cs typeface="Arial" panose="020B0604020202020204" pitchFamily="34" charset="0"/>
              </a:rPr>
              <a:t>and</a:t>
            </a:r>
            <a:r>
              <a:rPr lang="en-GB" sz="2800" b="1">
                <a:latin typeface="Domine" panose="02040503040403060204"/>
                <a:ea typeface="Open Sans" panose="020B0606030504020204" pitchFamily="34" charset="0"/>
                <a:cs typeface="Arial" panose="020B0604020202020204" pitchFamily="34" charset="0"/>
              </a:rPr>
              <a:t> </a:t>
            </a:r>
            <a:r>
              <a:rPr lang="en-GB" sz="2800">
                <a:latin typeface="Domine" panose="02040503040403060204"/>
                <a:ea typeface="Open Sans" panose="020B0606030504020204" pitchFamily="34" charset="0"/>
                <a:cs typeface="Arial" panose="020B0604020202020204" pitchFamily="34" charset="0"/>
              </a:rPr>
              <a:t>the</a:t>
            </a:r>
            <a:r>
              <a:rPr lang="en-GB" sz="2800" b="1">
                <a:latin typeface="Domine" panose="02040503040403060204"/>
                <a:ea typeface="Open Sans" panose="020B0606030504020204" pitchFamily="34" charset="0"/>
                <a:cs typeface="Arial" panose="020B0604020202020204" pitchFamily="34" charset="0"/>
              </a:rPr>
              <a:t> origin of the tumour</a:t>
            </a:r>
            <a:r>
              <a:rPr lang="en-GB" sz="2800">
                <a:latin typeface="Domine" panose="02040503040403060204"/>
                <a:ea typeface="Open Sans" panose="020B0606030504020204" pitchFamily="34" charset="0"/>
                <a:cs typeface="Arial" panose="020B0604020202020204" pitchFamily="34" charset="0"/>
              </a:rPr>
              <a:t>, which could improve diagnosis, targeted therapy and non-invasive disease monitoring</a:t>
            </a:r>
            <a:r>
              <a:rPr lang="en-GB" sz="2800" baseline="30000">
                <a:latin typeface="Domine" panose="02040503040403060204"/>
                <a:ea typeface="Open Sans" panose="020B0606030504020204" pitchFamily="34" charset="0"/>
                <a:cs typeface="Arial" panose="020B0604020202020204" pitchFamily="34" charset="0"/>
              </a:rPr>
              <a:t>1</a:t>
            </a:r>
            <a:r>
              <a:rPr lang="en-GB" sz="2800">
                <a:latin typeface="Domine" panose="02040503040403060204"/>
                <a:ea typeface="Open Sans" panose="020B0606030504020204" pitchFamily="34" charset="0"/>
                <a:cs typeface="Arial" panose="020B0604020202020204" pitchFamily="34" charset="0"/>
              </a:rPr>
              <a:t>.</a:t>
            </a:r>
          </a:p>
          <a:p>
            <a:pPr algn="just"/>
            <a:endParaRPr lang="en-GB" sz="2800">
              <a:latin typeface="Domine" panose="02040503040403060204"/>
              <a:ea typeface="Open Sans" panose="020B0606030504020204" pitchFamily="34" charset="0"/>
              <a:cs typeface="Arial" panose="020B0604020202020204" pitchFamily="34" charset="0"/>
            </a:endParaRPr>
          </a:p>
          <a:p>
            <a:pPr algn="just"/>
            <a:r>
              <a:rPr lang="en-GB" sz="2800">
                <a:latin typeface="Domine" panose="02040503040403060204"/>
                <a:ea typeface="Open Sans" panose="020B0606030504020204" pitchFamily="34" charset="0"/>
                <a:cs typeface="Arial" panose="020B0604020202020204" pitchFamily="34" charset="0"/>
              </a:rPr>
              <a:t>The aim of this project is to develop a </a:t>
            </a:r>
            <a:r>
              <a:rPr lang="en-GB" sz="2800" b="1">
                <a:latin typeface="Domine" panose="02040503040403060204"/>
                <a:ea typeface="Open Sans" panose="020B0606030504020204" pitchFamily="34" charset="0"/>
                <a:cs typeface="Arial" panose="020B0604020202020204" pitchFamily="34" charset="0"/>
              </a:rPr>
              <a:t>machine learning model</a:t>
            </a:r>
            <a:r>
              <a:rPr lang="en-GB" sz="2800">
                <a:latin typeface="Domine" panose="02040503040403060204"/>
                <a:ea typeface="Open Sans" panose="020B0606030504020204" pitchFamily="34" charset="0"/>
                <a:cs typeface="Arial" panose="020B0604020202020204" pitchFamily="34" charset="0"/>
              </a:rPr>
              <a:t> to distinguish healthy from cancer samples.</a:t>
            </a:r>
          </a:p>
        </p:txBody>
      </p:sp>
      <p:sp>
        <p:nvSpPr>
          <p:cNvPr id="48" name="TextBox 86">
            <a:extLst>
              <a:ext uri="{FF2B5EF4-FFF2-40B4-BE49-F238E27FC236}">
                <a16:creationId xmlns:a16="http://schemas.microsoft.com/office/drawing/2014/main" id="{D22A7531-D641-0FD9-EC66-9C3CE479016B}"/>
              </a:ext>
            </a:extLst>
          </p:cNvPr>
          <p:cNvSpPr txBox="1"/>
          <p:nvPr/>
        </p:nvSpPr>
        <p:spPr>
          <a:xfrm>
            <a:off x="1355195" y="5518388"/>
            <a:ext cx="9000000" cy="646331"/>
          </a:xfrm>
          <a:prstGeom prst="rect">
            <a:avLst/>
          </a:prstGeom>
          <a:noFill/>
        </p:spPr>
        <p:txBody>
          <a:bodyPr wrap="square" rtlCol="0">
            <a:spAutoFit/>
          </a:bodyPr>
          <a:lstStyle>
            <a:defPPr>
              <a:defRPr kern="1200"/>
            </a:defPPr>
          </a:lstStyle>
          <a:p>
            <a:r>
              <a:rPr lang="en-US" sz="3600" b="1">
                <a:solidFill>
                  <a:schemeClr val="tx1">
                    <a:lumMod val="75000"/>
                    <a:lumOff val="25000"/>
                  </a:schemeClr>
                </a:solidFill>
                <a:latin typeface="Montserrat Extra Bold" panose="00000900000000000000" pitchFamily="50" charset="0"/>
              </a:rPr>
              <a:t>Introduction</a:t>
            </a:r>
          </a:p>
        </p:txBody>
      </p:sp>
      <p:sp>
        <p:nvSpPr>
          <p:cNvPr id="49" name="Rectangle: Rounded Corners 43">
            <a:extLst>
              <a:ext uri="{FF2B5EF4-FFF2-40B4-BE49-F238E27FC236}">
                <a16:creationId xmlns:a16="http://schemas.microsoft.com/office/drawing/2014/main" id="{C0DAF606-CA9B-20DC-F9D3-8DE25FEB4A53}"/>
              </a:ext>
            </a:extLst>
          </p:cNvPr>
          <p:cNvSpPr/>
          <p:nvPr/>
        </p:nvSpPr>
        <p:spPr>
          <a:xfrm>
            <a:off x="11546280" y="5244354"/>
            <a:ext cx="10270276" cy="24492918"/>
          </a:xfrm>
          <a:prstGeom prst="roundRect">
            <a:avLst>
              <a:gd name="adj" fmla="val 2700"/>
            </a:avLst>
          </a:prstGeom>
          <a:solidFill>
            <a:srgbClr val="E3E3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p>
        </p:txBody>
      </p:sp>
      <p:sp>
        <p:nvSpPr>
          <p:cNvPr id="50" name="TextBox 87">
            <a:extLst>
              <a:ext uri="{FF2B5EF4-FFF2-40B4-BE49-F238E27FC236}">
                <a16:creationId xmlns:a16="http://schemas.microsoft.com/office/drawing/2014/main" id="{F3A51C5C-6FBC-84A1-9096-2EA241E87A6C}"/>
              </a:ext>
            </a:extLst>
          </p:cNvPr>
          <p:cNvSpPr txBox="1"/>
          <p:nvPr/>
        </p:nvSpPr>
        <p:spPr>
          <a:xfrm>
            <a:off x="1328261" y="13708305"/>
            <a:ext cx="9000000" cy="1692771"/>
          </a:xfrm>
          <a:prstGeom prst="rect">
            <a:avLst/>
          </a:prstGeom>
          <a:noFill/>
        </p:spPr>
        <p:txBody>
          <a:bodyPr wrap="square" rtlCol="0">
            <a:spAutoFit/>
          </a:bodyPr>
          <a:lstStyle>
            <a:defPPr>
              <a:defRPr kern="1200"/>
            </a:defPPr>
          </a:lstStyle>
          <a:p>
            <a:pPr algn="just"/>
            <a:r>
              <a:rPr lang="en-GB" sz="2600" dirty="0">
                <a:latin typeface="Domine" panose="02040503040403060204" pitchFamily="18" charset="0"/>
                <a:ea typeface="Open Sans" panose="020B0606030504020204" pitchFamily="34" charset="0"/>
                <a:cs typeface="Open Sans" panose="020B0606030504020204" pitchFamily="34" charset="0"/>
              </a:rPr>
              <a:t>Fragment </a:t>
            </a:r>
            <a:r>
              <a:rPr lang="en-GB" sz="2600">
                <a:latin typeface="Domine" panose="02040503040403060204" pitchFamily="18" charset="0"/>
                <a:ea typeface="Open Sans" panose="020B0606030504020204" pitchFamily="34" charset="0"/>
                <a:cs typeface="Open Sans" panose="020B0606030504020204" pitchFamily="34" charset="0"/>
              </a:rPr>
              <a:t>length, copy number and nucleosome footprint features </a:t>
            </a:r>
            <a:r>
              <a:rPr lang="en-GB" sz="2600" dirty="0">
                <a:latin typeface="Domine" panose="02040503040403060204" pitchFamily="18" charset="0"/>
                <a:ea typeface="Open Sans" panose="020B0606030504020204" pitchFamily="34" charset="0"/>
                <a:cs typeface="Open Sans" panose="020B0606030504020204" pitchFamily="34" charset="0"/>
              </a:rPr>
              <a:t>extracted </a:t>
            </a:r>
            <a:r>
              <a:rPr lang="en-GB" sz="2600">
                <a:latin typeface="Domine" panose="02040503040403060204" pitchFamily="18" charset="0"/>
                <a:ea typeface="Open Sans" panose="020B0606030504020204" pitchFamily="34" charset="0"/>
                <a:cs typeface="Open Sans" panose="020B0606030504020204" pitchFamily="34" charset="0"/>
              </a:rPr>
              <a:t>from whole-genome cfDNA sequencing BAM files of a publicly available dataset</a:t>
            </a:r>
            <a:r>
              <a:rPr lang="en-GB" sz="2600" baseline="30000">
                <a:latin typeface="Domine" panose="02040503040403060204" pitchFamily="18" charset="0"/>
                <a:ea typeface="Open Sans" panose="020B0606030504020204" pitchFamily="34" charset="0"/>
                <a:cs typeface="Open Sans" panose="020B0606030504020204" pitchFamily="34" charset="0"/>
              </a:rPr>
              <a:t>2</a:t>
            </a:r>
            <a:r>
              <a:rPr lang="en-GB" sz="2600" dirty="0">
                <a:latin typeface="Domine" panose="02040503040403060204" pitchFamily="18" charset="0"/>
                <a:ea typeface="Open Sans" panose="020B0606030504020204" pitchFamily="34" charset="0"/>
                <a:cs typeface="Open Sans" panose="020B0606030504020204" pitchFamily="34" charset="0"/>
              </a:rPr>
              <a:t>  were used to classify healthy and cancer samples (Fig. 1) .</a:t>
            </a:r>
            <a:endParaRPr lang="en-GB" sz="2600">
              <a:latin typeface="Domine" panose="02040503040403060204" pitchFamily="18" charset="0"/>
              <a:ea typeface="Open Sans" panose="020B0606030504020204" pitchFamily="34" charset="0"/>
              <a:cs typeface="Open Sans" panose="020B0606030504020204" pitchFamily="34" charset="0"/>
            </a:endParaRPr>
          </a:p>
        </p:txBody>
      </p:sp>
      <p:sp>
        <p:nvSpPr>
          <p:cNvPr id="51" name="TextBox 88">
            <a:extLst>
              <a:ext uri="{FF2B5EF4-FFF2-40B4-BE49-F238E27FC236}">
                <a16:creationId xmlns:a16="http://schemas.microsoft.com/office/drawing/2014/main" id="{C084D4B1-9009-8721-2A83-4A484378DC5C}"/>
              </a:ext>
            </a:extLst>
          </p:cNvPr>
          <p:cNvSpPr txBox="1"/>
          <p:nvPr/>
        </p:nvSpPr>
        <p:spPr>
          <a:xfrm>
            <a:off x="1355195" y="13034055"/>
            <a:ext cx="9144000" cy="646331"/>
          </a:xfrm>
          <a:prstGeom prst="rect">
            <a:avLst/>
          </a:prstGeom>
          <a:noFill/>
        </p:spPr>
        <p:txBody>
          <a:bodyPr wrap="square" rtlCol="0">
            <a:spAutoFit/>
          </a:bodyPr>
          <a:lstStyle>
            <a:defPPr>
              <a:defRPr kern="1200"/>
            </a:defPPr>
          </a:lstStyle>
          <a:p>
            <a:r>
              <a:rPr lang="en-US" sz="3600" b="1">
                <a:solidFill>
                  <a:schemeClr val="tx1">
                    <a:lumMod val="75000"/>
                    <a:lumOff val="25000"/>
                  </a:schemeClr>
                </a:solidFill>
                <a:latin typeface="Montserrat Extra Bold" panose="00000900000000000000" pitchFamily="50" charset="0"/>
              </a:rPr>
              <a:t>Materials and Methods</a:t>
            </a:r>
          </a:p>
        </p:txBody>
      </p:sp>
      <p:sp>
        <p:nvSpPr>
          <p:cNvPr id="55" name="Rectangle: Rounded Corners 40">
            <a:extLst>
              <a:ext uri="{FF2B5EF4-FFF2-40B4-BE49-F238E27FC236}">
                <a16:creationId xmlns:a16="http://schemas.microsoft.com/office/drawing/2014/main" id="{CAE32260-40EF-9ED7-14B7-477543426727}"/>
              </a:ext>
            </a:extLst>
          </p:cNvPr>
          <p:cNvSpPr/>
          <p:nvPr/>
        </p:nvSpPr>
        <p:spPr>
          <a:xfrm>
            <a:off x="22520878" y="5244354"/>
            <a:ext cx="10058400" cy="24492918"/>
          </a:xfrm>
          <a:prstGeom prst="roundRect">
            <a:avLst>
              <a:gd name="adj" fmla="val 1937"/>
            </a:avLst>
          </a:prstGeom>
          <a:solidFill>
            <a:srgbClr val="E3E3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p>
        </p:txBody>
      </p:sp>
      <p:sp>
        <p:nvSpPr>
          <p:cNvPr id="57" name="TextBox 92">
            <a:extLst>
              <a:ext uri="{FF2B5EF4-FFF2-40B4-BE49-F238E27FC236}">
                <a16:creationId xmlns:a16="http://schemas.microsoft.com/office/drawing/2014/main" id="{B22A2ADB-D1C3-440C-6F00-A0F9A889E6F5}"/>
              </a:ext>
            </a:extLst>
          </p:cNvPr>
          <p:cNvSpPr txBox="1"/>
          <p:nvPr/>
        </p:nvSpPr>
        <p:spPr>
          <a:xfrm>
            <a:off x="12077101" y="5513906"/>
            <a:ext cx="9144000" cy="655293"/>
          </a:xfrm>
          <a:prstGeom prst="rect">
            <a:avLst/>
          </a:prstGeom>
          <a:noFill/>
        </p:spPr>
        <p:txBody>
          <a:bodyPr wrap="square" rtlCol="0">
            <a:spAutoFit/>
          </a:bodyPr>
          <a:lstStyle>
            <a:defPPr>
              <a:defRPr kern="1200"/>
            </a:defPPr>
          </a:lstStyle>
          <a:p>
            <a:r>
              <a:rPr lang="en-US" sz="3600" b="1">
                <a:solidFill>
                  <a:schemeClr val="tx1">
                    <a:lumMod val="75000"/>
                    <a:lumOff val="25000"/>
                  </a:schemeClr>
                </a:solidFill>
                <a:latin typeface="Montserrat Extra Bold" panose="00000900000000000000" pitchFamily="50" charset="0"/>
              </a:rPr>
              <a:t>Results</a:t>
            </a:r>
          </a:p>
        </p:txBody>
      </p:sp>
      <p:sp>
        <p:nvSpPr>
          <p:cNvPr id="2" name="TextBox 45">
            <a:extLst>
              <a:ext uri="{FF2B5EF4-FFF2-40B4-BE49-F238E27FC236}">
                <a16:creationId xmlns:a16="http://schemas.microsoft.com/office/drawing/2014/main" id="{772812BD-1C5C-6552-B978-01FA3CA88D17}"/>
              </a:ext>
            </a:extLst>
          </p:cNvPr>
          <p:cNvSpPr txBox="1"/>
          <p:nvPr/>
        </p:nvSpPr>
        <p:spPr>
          <a:xfrm>
            <a:off x="33567407" y="21056923"/>
            <a:ext cx="7994342" cy="4401205"/>
          </a:xfrm>
          <a:prstGeom prst="rect">
            <a:avLst/>
          </a:prstGeom>
          <a:noFill/>
        </p:spPr>
        <p:txBody>
          <a:bodyPr wrap="square" rtlCol="0">
            <a:spAutoFit/>
          </a:bodyPr>
          <a:lstStyle>
            <a:defPPr>
              <a:defRPr kern="1200"/>
            </a:defPPr>
          </a:lstStyle>
          <a:p>
            <a:pPr algn="just"/>
            <a:r>
              <a:rPr lang="en-GB" sz="2800">
                <a:latin typeface="Domine" panose="02040503040403060204" pitchFamily="18" charset="0"/>
                <a:ea typeface="Open Sans" panose="020B0606030504020204" pitchFamily="34" charset="0"/>
                <a:cs typeface="Open Sans" panose="020B0606030504020204" pitchFamily="34" charset="0"/>
              </a:rPr>
              <a:t>The results show that </a:t>
            </a:r>
            <a:r>
              <a:rPr lang="en-GB" sz="2800" b="1">
                <a:latin typeface="Domine" panose="02040503040403060204" pitchFamily="18" charset="0"/>
                <a:ea typeface="Open Sans" panose="020B0606030504020204" pitchFamily="34" charset="0"/>
                <a:cs typeface="Open Sans" panose="020B0606030504020204" pitchFamily="34" charset="0"/>
              </a:rPr>
              <a:t>logistic regression </a:t>
            </a:r>
            <a:r>
              <a:rPr lang="en-GB" sz="2800">
                <a:latin typeface="Domine" panose="02040503040403060204" pitchFamily="18" charset="0"/>
                <a:ea typeface="Open Sans" panose="020B0606030504020204" pitchFamily="34" charset="0"/>
                <a:cs typeface="Open Sans" panose="020B0606030504020204" pitchFamily="34" charset="0"/>
              </a:rPr>
              <a:t>when focusing on the relative concentration of specific </a:t>
            </a:r>
            <a:r>
              <a:rPr lang="en-GB" sz="2800" b="1">
                <a:latin typeface="Domine" panose="02040503040403060204" pitchFamily="18" charset="0"/>
                <a:ea typeface="Open Sans" panose="020B0606030504020204" pitchFamily="34" charset="0"/>
                <a:cs typeface="Open Sans" panose="020B0606030504020204" pitchFamily="34" charset="0"/>
              </a:rPr>
              <a:t>length features </a:t>
            </a:r>
            <a:r>
              <a:rPr lang="en-GB" sz="2800">
                <a:latin typeface="Domine" panose="02040503040403060204" pitchFamily="18" charset="0"/>
                <a:ea typeface="Open Sans" panose="020B0606030504020204" pitchFamily="34" charset="0"/>
                <a:cs typeface="Open Sans" panose="020B0606030504020204" pitchFamily="34" charset="0"/>
              </a:rPr>
              <a:t>allows for better classification than using other algorithms.</a:t>
            </a:r>
          </a:p>
          <a:p>
            <a:pPr algn="just"/>
            <a:r>
              <a:rPr lang="en-GB" sz="2800" b="1">
                <a:latin typeface="Domine" panose="02040503040403060204" pitchFamily="18" charset="0"/>
                <a:ea typeface="Open Sans" panose="020B0606030504020204" pitchFamily="34" charset="0"/>
                <a:cs typeface="Open Sans" panose="020B0606030504020204" pitchFamily="34" charset="0"/>
              </a:rPr>
              <a:t>Reliable performance</a:t>
            </a:r>
            <a:r>
              <a:rPr lang="en-GB" sz="2800">
                <a:latin typeface="Domine" panose="02040503040403060204" pitchFamily="18" charset="0"/>
                <a:ea typeface="Open Sans" panose="020B0606030504020204" pitchFamily="34" charset="0"/>
                <a:cs typeface="Open Sans" panose="020B0606030504020204" pitchFamily="34" charset="0"/>
              </a:rPr>
              <a:t> of the weakly penalised model in detecting cancer and its subtypes shows the advantage of its </a:t>
            </a:r>
            <a:r>
              <a:rPr lang="en-GB" sz="2800" b="1">
                <a:latin typeface="Domine" panose="02040503040403060204" pitchFamily="18" charset="0"/>
                <a:ea typeface="Open Sans" panose="020B0606030504020204" pitchFamily="34" charset="0"/>
                <a:cs typeface="Open Sans" panose="020B0606030504020204" pitchFamily="34" charset="0"/>
              </a:rPr>
              <a:t>simplicity</a:t>
            </a:r>
            <a:r>
              <a:rPr lang="en-GB" sz="2800">
                <a:latin typeface="Domine" panose="02040503040403060204" pitchFamily="18" charset="0"/>
                <a:ea typeface="Open Sans" panose="020B0606030504020204" pitchFamily="34" charset="0"/>
                <a:cs typeface="Open Sans" panose="020B0606030504020204" pitchFamily="34" charset="0"/>
              </a:rPr>
              <a:t>. Nevertheless, the model should still be treated with caution, as </a:t>
            </a:r>
            <a:r>
              <a:rPr lang="en-GB" sz="2800" b="1">
                <a:latin typeface="Domine" panose="02040503040403060204" pitchFamily="18" charset="0"/>
                <a:ea typeface="Open Sans" panose="020B0606030504020204" pitchFamily="34" charset="0"/>
                <a:cs typeface="Open Sans" panose="020B0606030504020204" pitchFamily="34" charset="0"/>
              </a:rPr>
              <a:t>overfitting</a:t>
            </a:r>
            <a:r>
              <a:rPr lang="en-GB" sz="2800">
                <a:latin typeface="Domine" panose="02040503040403060204" pitchFamily="18" charset="0"/>
                <a:ea typeface="Open Sans" panose="020B0606030504020204" pitchFamily="34" charset="0"/>
                <a:cs typeface="Open Sans" panose="020B0606030504020204" pitchFamily="34" charset="0"/>
              </a:rPr>
              <a:t> is difficult to rule out, even if </a:t>
            </a:r>
            <a:r>
              <a:rPr lang="en-GB" sz="2800" err="1">
                <a:latin typeface="Domine" panose="02040503040403060204" pitchFamily="18" charset="0"/>
                <a:ea typeface="Open Sans" panose="020B0606030504020204" pitchFamily="34" charset="0"/>
                <a:cs typeface="Open Sans" panose="020B0606030504020204" pitchFamily="34" charset="0"/>
              </a:rPr>
              <a:t>crossvalidation</a:t>
            </a:r>
            <a:r>
              <a:rPr lang="en-GB" sz="2800">
                <a:latin typeface="Domine" panose="02040503040403060204" pitchFamily="18" charset="0"/>
                <a:ea typeface="Open Sans" panose="020B0606030504020204" pitchFamily="34" charset="0"/>
                <a:cs typeface="Open Sans" panose="020B0606030504020204" pitchFamily="34" charset="0"/>
              </a:rPr>
              <a:t> has been preformed to minimize it.</a:t>
            </a:r>
          </a:p>
        </p:txBody>
      </p:sp>
      <p:sp>
        <p:nvSpPr>
          <p:cNvPr id="3" name="TextBox 91">
            <a:extLst>
              <a:ext uri="{FF2B5EF4-FFF2-40B4-BE49-F238E27FC236}">
                <a16:creationId xmlns:a16="http://schemas.microsoft.com/office/drawing/2014/main" id="{EC24AD7F-0AAA-C4DC-B991-9E6A6E5BFCF7}"/>
              </a:ext>
            </a:extLst>
          </p:cNvPr>
          <p:cNvSpPr txBox="1"/>
          <p:nvPr/>
        </p:nvSpPr>
        <p:spPr>
          <a:xfrm>
            <a:off x="1328261" y="24855757"/>
            <a:ext cx="7912110" cy="461665"/>
          </a:xfrm>
          <a:prstGeom prst="rect">
            <a:avLst/>
          </a:prstGeom>
          <a:noFill/>
        </p:spPr>
        <p:txBody>
          <a:bodyPr wrap="square" rtlCol="0">
            <a:spAutoFit/>
          </a:bodyPr>
          <a:lstStyle>
            <a:defPPr>
              <a:defRPr kern="1200"/>
            </a:defPPr>
          </a:lstStyle>
          <a:p>
            <a:pPr algn="just"/>
            <a:r>
              <a:rPr lang="en-US" sz="2400" b="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Fig. 1: Project workflow </a:t>
            </a:r>
            <a:endParaRPr lang="en-GB" sz="2400">
              <a:solidFill>
                <a:schemeClr val="tx1">
                  <a:lumMod val="65000"/>
                  <a:lumOff val="35000"/>
                </a:schemeClr>
              </a:solidFill>
              <a:latin typeface="Domine" panose="02040503040403060204"/>
            </a:endParaRPr>
          </a:p>
        </p:txBody>
      </p:sp>
      <p:pic>
        <p:nvPicPr>
          <p:cNvPr id="54" name="Grafik 53">
            <a:extLst>
              <a:ext uri="{FF2B5EF4-FFF2-40B4-BE49-F238E27FC236}">
                <a16:creationId xmlns:a16="http://schemas.microsoft.com/office/drawing/2014/main" id="{EC7E4E40-A814-1A97-6077-6AB1544EA38F}"/>
              </a:ext>
            </a:extLst>
          </p:cNvPr>
          <p:cNvPicPr>
            <a:picLocks noChangeAspect="1"/>
          </p:cNvPicPr>
          <p:nvPr/>
        </p:nvPicPr>
        <p:blipFill rotWithShape="1">
          <a:blip r:embed="rId3">
            <a:extLst>
              <a:ext uri="{28A0092B-C50C-407E-A947-70E740481C1C}">
                <a14:useLocalDpi xmlns:a14="http://schemas.microsoft.com/office/drawing/2010/main" val="0"/>
              </a:ext>
            </a:extLst>
          </a:blip>
          <a:srcRect r="6592"/>
          <a:stretch/>
        </p:blipFill>
        <p:spPr>
          <a:xfrm>
            <a:off x="33996604" y="17056184"/>
            <a:ext cx="2757999" cy="2585323"/>
          </a:xfrm>
          <a:prstGeom prst="rect">
            <a:avLst/>
          </a:prstGeom>
        </p:spPr>
      </p:pic>
      <p:sp>
        <p:nvSpPr>
          <p:cNvPr id="58" name="Textfeld 57">
            <a:extLst>
              <a:ext uri="{FF2B5EF4-FFF2-40B4-BE49-F238E27FC236}">
                <a16:creationId xmlns:a16="http://schemas.microsoft.com/office/drawing/2014/main" id="{18539CF4-A806-17FD-0227-039192117CBF}"/>
              </a:ext>
            </a:extLst>
          </p:cNvPr>
          <p:cNvSpPr txBox="1"/>
          <p:nvPr/>
        </p:nvSpPr>
        <p:spPr>
          <a:xfrm>
            <a:off x="36754603" y="17058082"/>
            <a:ext cx="4268308" cy="2585323"/>
          </a:xfrm>
          <a:prstGeom prst="rect">
            <a:avLst/>
          </a:prstGeom>
          <a:noFill/>
        </p:spPr>
        <p:txBody>
          <a:bodyPr wrap="square" rtlCol="0">
            <a:spAutoFit/>
          </a:bodyPr>
          <a:lstStyle/>
          <a:p>
            <a:pPr algn="just"/>
            <a:r>
              <a:rPr lang="en-US" sz="2400" b="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Fig. 9. Confusion Matrix of Cancer classification model. </a:t>
            </a:r>
            <a:r>
              <a:rPr lang="en-US" sz="240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n = 97. 46/46 cancer samples identified (true positives), 5/51 healthy samples misdiagnosed (false positive).</a:t>
            </a:r>
            <a:endParaRPr lang="en-US" sz="180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endParaRPr>
          </a:p>
          <a:p>
            <a:endParaRPr lang="en-GB"/>
          </a:p>
        </p:txBody>
      </p:sp>
      <p:sp>
        <p:nvSpPr>
          <p:cNvPr id="4" name="TextBox 87">
            <a:extLst>
              <a:ext uri="{FF2B5EF4-FFF2-40B4-BE49-F238E27FC236}">
                <a16:creationId xmlns:a16="http://schemas.microsoft.com/office/drawing/2014/main" id="{E8DC28F0-BCE5-7F58-FC93-B1AE1A63644A}"/>
              </a:ext>
            </a:extLst>
          </p:cNvPr>
          <p:cNvSpPr txBox="1"/>
          <p:nvPr/>
        </p:nvSpPr>
        <p:spPr>
          <a:xfrm>
            <a:off x="23087166" y="5728496"/>
            <a:ext cx="9000000" cy="1692771"/>
          </a:xfrm>
          <a:prstGeom prst="rect">
            <a:avLst/>
          </a:prstGeom>
          <a:noFill/>
        </p:spPr>
        <p:txBody>
          <a:bodyPr wrap="square" rtlCol="0">
            <a:spAutoFit/>
          </a:bodyPr>
          <a:lstStyle>
            <a:defPPr>
              <a:defRPr kern="1200"/>
            </a:defPPr>
          </a:lstStyle>
          <a:p>
            <a:pPr algn="just"/>
            <a:r>
              <a:rPr lang="en-GB" sz="2600">
                <a:latin typeface="Domine" panose="02040503040403060204" pitchFamily="18" charset="0"/>
                <a:ea typeface="Open Sans" panose="020B0606030504020204" pitchFamily="34" charset="0"/>
                <a:cs typeface="Open Sans" panose="020B0606030504020204" pitchFamily="34" charset="0"/>
              </a:rPr>
              <a:t>To find the best performing model, 5-fold cross validation on a 80/20 train-test split was used while minimizing overfitting. Selected model performs logistic regression and classifies upon fragment length features.</a:t>
            </a:r>
          </a:p>
        </p:txBody>
      </p:sp>
      <p:sp>
        <p:nvSpPr>
          <p:cNvPr id="167" name="TextBox 87">
            <a:extLst>
              <a:ext uri="{FF2B5EF4-FFF2-40B4-BE49-F238E27FC236}">
                <a16:creationId xmlns:a16="http://schemas.microsoft.com/office/drawing/2014/main" id="{7D825B07-6679-C6F8-241F-1819139DE235}"/>
              </a:ext>
            </a:extLst>
          </p:cNvPr>
          <p:cNvSpPr txBox="1"/>
          <p:nvPr/>
        </p:nvSpPr>
        <p:spPr>
          <a:xfrm>
            <a:off x="12087101" y="6156687"/>
            <a:ext cx="9000000" cy="1692771"/>
          </a:xfrm>
          <a:prstGeom prst="rect">
            <a:avLst/>
          </a:prstGeom>
          <a:noFill/>
        </p:spPr>
        <p:txBody>
          <a:bodyPr wrap="square" rtlCol="0">
            <a:spAutoFit/>
          </a:bodyPr>
          <a:lstStyle>
            <a:defPPr>
              <a:defRPr kern="1200"/>
            </a:defPPr>
          </a:lstStyle>
          <a:p>
            <a:pPr algn="just"/>
            <a:r>
              <a:rPr lang="en-GB" sz="2600">
                <a:latin typeface="Domine" panose="02040503040403060204" pitchFamily="18" charset="0"/>
                <a:ea typeface="Open Sans" panose="020B0606030504020204" pitchFamily="34" charset="0"/>
                <a:cs typeface="Open Sans" panose="020B0606030504020204" pitchFamily="34" charset="0"/>
              </a:rPr>
              <a:t>Obtained feature matrix results from exploring characteristics of the following features: Fragment length distribution (Fig. 2), CNA and tumour fraction (Fig. 3) and nucleosome footprints (Fig. 4). Cancer samples show different characteristics.</a:t>
            </a:r>
          </a:p>
        </p:txBody>
      </p:sp>
      <p:sp>
        <p:nvSpPr>
          <p:cNvPr id="181" name="TextBox 87">
            <a:extLst>
              <a:ext uri="{FF2B5EF4-FFF2-40B4-BE49-F238E27FC236}">
                <a16:creationId xmlns:a16="http://schemas.microsoft.com/office/drawing/2014/main" id="{D0713A65-E875-1FC6-BB9A-B9A83C493DFE}"/>
              </a:ext>
            </a:extLst>
          </p:cNvPr>
          <p:cNvSpPr txBox="1"/>
          <p:nvPr/>
        </p:nvSpPr>
        <p:spPr>
          <a:xfrm>
            <a:off x="33567407" y="5615128"/>
            <a:ext cx="7994342" cy="2092881"/>
          </a:xfrm>
          <a:prstGeom prst="rect">
            <a:avLst/>
          </a:prstGeom>
          <a:noFill/>
        </p:spPr>
        <p:txBody>
          <a:bodyPr wrap="square" rtlCol="0">
            <a:spAutoFit/>
          </a:bodyPr>
          <a:lstStyle>
            <a:defPPr>
              <a:defRPr kern="1200"/>
            </a:defPPr>
          </a:lstStyle>
          <a:p>
            <a:pPr algn="just"/>
            <a:r>
              <a:rPr lang="en-US" sz="2600">
                <a:latin typeface="Domine" panose="02040503040403060204" pitchFamily="18" charset="0"/>
                <a:ea typeface="Open Sans" panose="020B0606030504020204" pitchFamily="34" charset="0"/>
                <a:cs typeface="Open Sans" panose="020B0606030504020204" pitchFamily="34" charset="0"/>
              </a:rPr>
              <a:t>Performing logistic regression revealed that the simplest model, which only included information of fragment length, produced the highest F1 scores. Including information on </a:t>
            </a:r>
            <a:r>
              <a:rPr lang="en-US" sz="2600" err="1">
                <a:latin typeface="Domine" panose="02040503040403060204" pitchFamily="18" charset="0"/>
                <a:ea typeface="Open Sans" panose="020B0606030504020204" pitchFamily="34" charset="0"/>
                <a:cs typeface="Open Sans" panose="020B0606030504020204" pitchFamily="34" charset="0"/>
              </a:rPr>
              <a:t>tumour</a:t>
            </a:r>
            <a:r>
              <a:rPr lang="en-US" sz="2600">
                <a:latin typeface="Domine" panose="02040503040403060204" pitchFamily="18" charset="0"/>
                <a:ea typeface="Open Sans" panose="020B0606030504020204" pitchFamily="34" charset="0"/>
                <a:cs typeface="Open Sans" panose="020B0606030504020204" pitchFamily="34" charset="0"/>
              </a:rPr>
              <a:t> fraction and nucleosome footprint information did not improve the model (Fig. 8).</a:t>
            </a:r>
          </a:p>
        </p:txBody>
      </p:sp>
      <p:sp>
        <p:nvSpPr>
          <p:cNvPr id="60" name="Ellipse 59">
            <a:extLst>
              <a:ext uri="{FF2B5EF4-FFF2-40B4-BE49-F238E27FC236}">
                <a16:creationId xmlns:a16="http://schemas.microsoft.com/office/drawing/2014/main" id="{42FDA79C-39D7-377D-4B00-A321418C1418}"/>
              </a:ext>
            </a:extLst>
          </p:cNvPr>
          <p:cNvSpPr/>
          <p:nvPr/>
        </p:nvSpPr>
        <p:spPr>
          <a:xfrm>
            <a:off x="2669530" y="15664256"/>
            <a:ext cx="6302564" cy="1311087"/>
          </a:xfrm>
          <a:prstGeom prst="ellipse">
            <a:avLst/>
          </a:prstGeom>
          <a:solidFill>
            <a:srgbClr val="6D9BAB"/>
          </a:solidFill>
          <a:ln>
            <a:solidFill>
              <a:srgbClr val="6D9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a:latin typeface="Domine" panose="02040503040403060204"/>
            </a:endParaRPr>
          </a:p>
        </p:txBody>
      </p:sp>
      <p:graphicFrame>
        <p:nvGraphicFramePr>
          <p:cNvPr id="62" name="Tabelle 61">
            <a:extLst>
              <a:ext uri="{FF2B5EF4-FFF2-40B4-BE49-F238E27FC236}">
                <a16:creationId xmlns:a16="http://schemas.microsoft.com/office/drawing/2014/main" id="{AAAF5FD4-7E7A-6E4F-F5B1-E0F7D86BA7BE}"/>
              </a:ext>
            </a:extLst>
          </p:cNvPr>
          <p:cNvGraphicFramePr>
            <a:graphicFrameLocks noGrp="1"/>
          </p:cNvGraphicFramePr>
          <p:nvPr>
            <p:extLst>
              <p:ext uri="{D42A27DB-BD31-4B8C-83A1-F6EECF244321}">
                <p14:modId xmlns:p14="http://schemas.microsoft.com/office/powerpoint/2010/main" val="1048788572"/>
              </p:ext>
            </p:extLst>
          </p:nvPr>
        </p:nvGraphicFramePr>
        <p:xfrm>
          <a:off x="3126107" y="15937729"/>
          <a:ext cx="5436000" cy="792480"/>
        </p:xfrm>
        <a:graphic>
          <a:graphicData uri="http://schemas.openxmlformats.org/drawingml/2006/table">
            <a:tbl>
              <a:tblPr firstRow="1" bandRow="1">
                <a:tableStyleId>{46F890A9-2807-4EBB-B81D-B2AA78EC7F39}</a:tableStyleId>
              </a:tblPr>
              <a:tblGrid>
                <a:gridCol w="1008000">
                  <a:extLst>
                    <a:ext uri="{9D8B030D-6E8A-4147-A177-3AD203B41FA5}">
                      <a16:colId xmlns:a16="http://schemas.microsoft.com/office/drawing/2014/main" val="3860977150"/>
                    </a:ext>
                  </a:extLst>
                </a:gridCol>
                <a:gridCol w="1152000">
                  <a:extLst>
                    <a:ext uri="{9D8B030D-6E8A-4147-A177-3AD203B41FA5}">
                      <a16:colId xmlns:a16="http://schemas.microsoft.com/office/drawing/2014/main" val="1277480750"/>
                    </a:ext>
                  </a:extLst>
                </a:gridCol>
                <a:gridCol w="864000">
                  <a:extLst>
                    <a:ext uri="{9D8B030D-6E8A-4147-A177-3AD203B41FA5}">
                      <a16:colId xmlns:a16="http://schemas.microsoft.com/office/drawing/2014/main" val="2933551748"/>
                    </a:ext>
                  </a:extLst>
                </a:gridCol>
                <a:gridCol w="828000">
                  <a:extLst>
                    <a:ext uri="{9D8B030D-6E8A-4147-A177-3AD203B41FA5}">
                      <a16:colId xmlns:a16="http://schemas.microsoft.com/office/drawing/2014/main" val="79248571"/>
                    </a:ext>
                  </a:extLst>
                </a:gridCol>
                <a:gridCol w="720000">
                  <a:extLst>
                    <a:ext uri="{9D8B030D-6E8A-4147-A177-3AD203B41FA5}">
                      <a16:colId xmlns:a16="http://schemas.microsoft.com/office/drawing/2014/main" val="4220563091"/>
                    </a:ext>
                  </a:extLst>
                </a:gridCol>
                <a:gridCol w="864000">
                  <a:extLst>
                    <a:ext uri="{9D8B030D-6E8A-4147-A177-3AD203B41FA5}">
                      <a16:colId xmlns:a16="http://schemas.microsoft.com/office/drawing/2014/main" val="569247130"/>
                    </a:ext>
                  </a:extLst>
                </a:gridCol>
              </a:tblGrid>
              <a:tr h="0">
                <a:tc>
                  <a:txBody>
                    <a:bodyPr/>
                    <a:lstStyle/>
                    <a:p>
                      <a:pPr algn="ctr"/>
                      <a:r>
                        <a:rPr lang="de-DE" sz="2000" err="1">
                          <a:solidFill>
                            <a:schemeClr val="bg1"/>
                          </a:solidFill>
                        </a:rPr>
                        <a:t>Healthy</a:t>
                      </a:r>
                      <a:endParaRPr lang="en-GB" sz="2000">
                        <a:solidFill>
                          <a:schemeClr val="bg1"/>
                        </a:solidFill>
                      </a:endParaRPr>
                    </a:p>
                  </a:txBody>
                  <a:tcPr anchor="ctr">
                    <a:solidFill>
                      <a:srgbClr val="6D9BAB"/>
                    </a:solidFill>
                  </a:tcPr>
                </a:tc>
                <a:tc>
                  <a:txBody>
                    <a:bodyPr/>
                    <a:lstStyle/>
                    <a:p>
                      <a:pPr algn="ctr"/>
                      <a:r>
                        <a:rPr lang="de-DE" sz="2000" err="1">
                          <a:solidFill>
                            <a:schemeClr val="bg1"/>
                          </a:solidFill>
                        </a:rPr>
                        <a:t>Pancreas</a:t>
                      </a:r>
                      <a:endParaRPr lang="en-GB" sz="2000">
                        <a:solidFill>
                          <a:schemeClr val="bg1"/>
                        </a:solidFill>
                      </a:endParaRPr>
                    </a:p>
                  </a:txBody>
                  <a:tcPr anchor="ctr">
                    <a:solidFill>
                      <a:srgbClr val="6D9BAB"/>
                    </a:solidFill>
                  </a:tcPr>
                </a:tc>
                <a:tc>
                  <a:txBody>
                    <a:bodyPr/>
                    <a:lstStyle/>
                    <a:p>
                      <a:pPr algn="ctr"/>
                      <a:r>
                        <a:rPr lang="de-DE" sz="2000">
                          <a:solidFill>
                            <a:schemeClr val="bg1"/>
                          </a:solidFill>
                        </a:rPr>
                        <a:t>Biliary</a:t>
                      </a:r>
                      <a:endParaRPr lang="en-GB" sz="2000">
                        <a:solidFill>
                          <a:schemeClr val="bg1"/>
                        </a:solidFill>
                      </a:endParaRPr>
                    </a:p>
                  </a:txBody>
                  <a:tcPr anchor="ctr">
                    <a:solidFill>
                      <a:srgbClr val="6D9BAB"/>
                    </a:solidFill>
                  </a:tcPr>
                </a:tc>
                <a:tc>
                  <a:txBody>
                    <a:bodyPr/>
                    <a:lstStyle/>
                    <a:p>
                      <a:pPr algn="ctr"/>
                      <a:r>
                        <a:rPr lang="de-DE" sz="2000" err="1">
                          <a:solidFill>
                            <a:schemeClr val="bg1"/>
                          </a:solidFill>
                        </a:rPr>
                        <a:t>Ovary</a:t>
                      </a:r>
                      <a:endParaRPr lang="en-GB" sz="2000">
                        <a:solidFill>
                          <a:schemeClr val="bg1"/>
                        </a:solidFill>
                      </a:endParaRPr>
                    </a:p>
                  </a:txBody>
                  <a:tcPr anchor="ctr">
                    <a:solidFill>
                      <a:srgbClr val="6D9BAB"/>
                    </a:solidFill>
                  </a:tcPr>
                </a:tc>
                <a:tc>
                  <a:txBody>
                    <a:bodyPr/>
                    <a:lstStyle/>
                    <a:p>
                      <a:pPr algn="ctr"/>
                      <a:r>
                        <a:rPr lang="de-DE" sz="2000">
                          <a:solidFill>
                            <a:schemeClr val="bg1"/>
                          </a:solidFill>
                        </a:rPr>
                        <a:t>Lung</a:t>
                      </a:r>
                      <a:endParaRPr lang="en-GB" sz="2000">
                        <a:solidFill>
                          <a:schemeClr val="bg1"/>
                        </a:solidFill>
                      </a:endParaRPr>
                    </a:p>
                  </a:txBody>
                  <a:tcPr anchor="ctr">
                    <a:solidFill>
                      <a:srgbClr val="6D9BAB"/>
                    </a:solidFill>
                  </a:tcPr>
                </a:tc>
                <a:tc>
                  <a:txBody>
                    <a:bodyPr/>
                    <a:lstStyle/>
                    <a:p>
                      <a:pPr algn="ctr"/>
                      <a:r>
                        <a:rPr lang="de-DE" sz="2000" err="1">
                          <a:solidFill>
                            <a:schemeClr val="bg1"/>
                          </a:solidFill>
                        </a:rPr>
                        <a:t>Breast</a:t>
                      </a:r>
                      <a:endParaRPr lang="en-GB" sz="2000">
                        <a:solidFill>
                          <a:schemeClr val="bg1"/>
                        </a:solidFill>
                      </a:endParaRPr>
                    </a:p>
                  </a:txBody>
                  <a:tcPr anchor="ctr">
                    <a:solidFill>
                      <a:srgbClr val="6D9BAB"/>
                    </a:solidFill>
                  </a:tcPr>
                </a:tc>
                <a:extLst>
                  <a:ext uri="{0D108BD9-81ED-4DB2-BD59-A6C34878D82A}">
                    <a16:rowId xmlns:a16="http://schemas.microsoft.com/office/drawing/2014/main" val="1930298930"/>
                  </a:ext>
                </a:extLst>
              </a:tr>
              <a:tr h="0">
                <a:tc>
                  <a:txBody>
                    <a:bodyPr/>
                    <a:lstStyle/>
                    <a:p>
                      <a:pPr algn="ctr"/>
                      <a:r>
                        <a:rPr lang="de-DE" sz="2000">
                          <a:solidFill>
                            <a:schemeClr val="bg1"/>
                          </a:solidFill>
                        </a:rPr>
                        <a:t>262</a:t>
                      </a:r>
                      <a:endParaRPr lang="en-GB" sz="2000">
                        <a:solidFill>
                          <a:schemeClr val="bg1"/>
                        </a:solidFill>
                      </a:endParaRPr>
                    </a:p>
                  </a:txBody>
                  <a:tcPr anchor="ctr">
                    <a:solidFill>
                      <a:srgbClr val="6D9BAB"/>
                    </a:solidFill>
                  </a:tcPr>
                </a:tc>
                <a:tc>
                  <a:txBody>
                    <a:bodyPr/>
                    <a:lstStyle/>
                    <a:p>
                      <a:pPr algn="ctr"/>
                      <a:r>
                        <a:rPr lang="de-DE" sz="2000">
                          <a:solidFill>
                            <a:schemeClr val="bg1"/>
                          </a:solidFill>
                        </a:rPr>
                        <a:t>35</a:t>
                      </a:r>
                      <a:endParaRPr lang="en-GB" sz="2000">
                        <a:solidFill>
                          <a:schemeClr val="bg1"/>
                        </a:solidFill>
                      </a:endParaRPr>
                    </a:p>
                  </a:txBody>
                  <a:tcPr anchor="ctr">
                    <a:solidFill>
                      <a:srgbClr val="6D9BAB"/>
                    </a:solidFill>
                  </a:tcPr>
                </a:tc>
                <a:tc>
                  <a:txBody>
                    <a:bodyPr/>
                    <a:lstStyle/>
                    <a:p>
                      <a:pPr algn="ctr"/>
                      <a:r>
                        <a:rPr lang="de-DE" sz="2000">
                          <a:solidFill>
                            <a:schemeClr val="bg1"/>
                          </a:solidFill>
                        </a:rPr>
                        <a:t>25</a:t>
                      </a:r>
                      <a:endParaRPr lang="en-GB" sz="2000">
                        <a:solidFill>
                          <a:schemeClr val="bg1"/>
                        </a:solidFill>
                      </a:endParaRPr>
                    </a:p>
                  </a:txBody>
                  <a:tcPr anchor="ctr">
                    <a:solidFill>
                      <a:srgbClr val="6D9BAB"/>
                    </a:solidFill>
                  </a:tcPr>
                </a:tc>
                <a:tc>
                  <a:txBody>
                    <a:bodyPr/>
                    <a:lstStyle/>
                    <a:p>
                      <a:pPr algn="ctr"/>
                      <a:r>
                        <a:rPr lang="de-DE" sz="2000">
                          <a:solidFill>
                            <a:schemeClr val="bg1"/>
                          </a:solidFill>
                        </a:rPr>
                        <a:t>28</a:t>
                      </a:r>
                      <a:endParaRPr lang="en-GB" sz="2000">
                        <a:solidFill>
                          <a:schemeClr val="bg1"/>
                        </a:solidFill>
                      </a:endParaRPr>
                    </a:p>
                  </a:txBody>
                  <a:tcPr anchor="ctr">
                    <a:solidFill>
                      <a:srgbClr val="6D9BAB"/>
                    </a:solidFill>
                  </a:tcPr>
                </a:tc>
                <a:tc>
                  <a:txBody>
                    <a:bodyPr/>
                    <a:lstStyle/>
                    <a:p>
                      <a:pPr algn="ctr"/>
                      <a:r>
                        <a:rPr lang="de-DE" sz="2000">
                          <a:solidFill>
                            <a:schemeClr val="bg1"/>
                          </a:solidFill>
                        </a:rPr>
                        <a:t>79</a:t>
                      </a:r>
                      <a:endParaRPr lang="en-GB" sz="2000">
                        <a:solidFill>
                          <a:schemeClr val="bg1"/>
                        </a:solidFill>
                      </a:endParaRPr>
                    </a:p>
                  </a:txBody>
                  <a:tcPr anchor="ctr">
                    <a:solidFill>
                      <a:srgbClr val="6D9BAB"/>
                    </a:solidFill>
                  </a:tcPr>
                </a:tc>
                <a:tc>
                  <a:txBody>
                    <a:bodyPr/>
                    <a:lstStyle/>
                    <a:p>
                      <a:pPr algn="ctr"/>
                      <a:r>
                        <a:rPr lang="de-DE" sz="2000">
                          <a:solidFill>
                            <a:schemeClr val="bg1"/>
                          </a:solidFill>
                        </a:rPr>
                        <a:t>53</a:t>
                      </a:r>
                      <a:endParaRPr lang="en-GB" sz="2000">
                        <a:solidFill>
                          <a:schemeClr val="bg1"/>
                        </a:solidFill>
                      </a:endParaRPr>
                    </a:p>
                  </a:txBody>
                  <a:tcPr anchor="ctr">
                    <a:solidFill>
                      <a:srgbClr val="6D9BAB"/>
                    </a:solidFill>
                  </a:tcPr>
                </a:tc>
                <a:extLst>
                  <a:ext uri="{0D108BD9-81ED-4DB2-BD59-A6C34878D82A}">
                    <a16:rowId xmlns:a16="http://schemas.microsoft.com/office/drawing/2014/main" val="1760957177"/>
                  </a:ext>
                </a:extLst>
              </a:tr>
            </a:tbl>
          </a:graphicData>
        </a:graphic>
      </p:graphicFrame>
      <p:sp>
        <p:nvSpPr>
          <p:cNvPr id="63" name="Ellipse 62">
            <a:extLst>
              <a:ext uri="{FF2B5EF4-FFF2-40B4-BE49-F238E27FC236}">
                <a16:creationId xmlns:a16="http://schemas.microsoft.com/office/drawing/2014/main" id="{59D6FADA-2F01-B36C-18FB-14FA015554C6}"/>
              </a:ext>
            </a:extLst>
          </p:cNvPr>
          <p:cNvSpPr/>
          <p:nvPr/>
        </p:nvSpPr>
        <p:spPr>
          <a:xfrm>
            <a:off x="2690332" y="15634663"/>
            <a:ext cx="6302564" cy="1373256"/>
          </a:xfrm>
          <a:prstGeom prst="ellipse">
            <a:avLst/>
          </a:prstGeom>
          <a:noFill/>
          <a:ln w="114300">
            <a:solidFill>
              <a:srgbClr val="E3E3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a:latin typeface="Domine" panose="02040503040403060204"/>
            </a:endParaRPr>
          </a:p>
        </p:txBody>
      </p:sp>
      <p:grpSp>
        <p:nvGrpSpPr>
          <p:cNvPr id="85" name="Gruppieren 84">
            <a:extLst>
              <a:ext uri="{FF2B5EF4-FFF2-40B4-BE49-F238E27FC236}">
                <a16:creationId xmlns:a16="http://schemas.microsoft.com/office/drawing/2014/main" id="{512175E3-A6CF-8B2C-F1EC-FB01ED5B9F43}"/>
              </a:ext>
            </a:extLst>
          </p:cNvPr>
          <p:cNvGrpSpPr/>
          <p:nvPr/>
        </p:nvGrpSpPr>
        <p:grpSpPr>
          <a:xfrm>
            <a:off x="1872208" y="16953298"/>
            <a:ext cx="7920458" cy="8015238"/>
            <a:chOff x="1872208" y="17294783"/>
            <a:chExt cx="7920458" cy="8015238"/>
          </a:xfrm>
        </p:grpSpPr>
        <p:grpSp>
          <p:nvGrpSpPr>
            <p:cNvPr id="7" name="Gruppieren 6">
              <a:extLst>
                <a:ext uri="{FF2B5EF4-FFF2-40B4-BE49-F238E27FC236}">
                  <a16:creationId xmlns:a16="http://schemas.microsoft.com/office/drawing/2014/main" id="{14C6AD42-382B-9D69-64A6-2D40147CAFF9}"/>
                </a:ext>
              </a:extLst>
            </p:cNvPr>
            <p:cNvGrpSpPr/>
            <p:nvPr/>
          </p:nvGrpSpPr>
          <p:grpSpPr>
            <a:xfrm>
              <a:off x="1872208" y="17294783"/>
              <a:ext cx="7920458" cy="8015238"/>
              <a:chOff x="4472547" y="16494412"/>
              <a:chExt cx="3685911" cy="4227479"/>
            </a:xfrm>
          </p:grpSpPr>
          <p:sp>
            <p:nvSpPr>
              <p:cNvPr id="12" name="Rechteck 11">
                <a:extLst>
                  <a:ext uri="{FF2B5EF4-FFF2-40B4-BE49-F238E27FC236}">
                    <a16:creationId xmlns:a16="http://schemas.microsoft.com/office/drawing/2014/main" id="{D9DE39AD-ADC5-279A-D8C8-39849D8AD4ED}"/>
                  </a:ext>
                </a:extLst>
              </p:cNvPr>
              <p:cNvSpPr/>
              <p:nvPr/>
            </p:nvSpPr>
            <p:spPr>
              <a:xfrm>
                <a:off x="4472547" y="16771335"/>
                <a:ext cx="3682027" cy="1080000"/>
              </a:xfrm>
              <a:prstGeom prst="rect">
                <a:avLst/>
              </a:prstGeom>
              <a:solidFill>
                <a:srgbClr val="B3CBD3"/>
              </a:solidFill>
              <a:ln>
                <a:solidFill>
                  <a:srgbClr val="B3CBD3"/>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de-DE" sz="2400">
                  <a:solidFill>
                    <a:schemeClr val="tx1"/>
                  </a:solidFill>
                  <a:latin typeface="Domine" panose="02040503040403060204"/>
                </a:endParaRPr>
              </a:p>
            </p:txBody>
          </p:sp>
          <p:sp>
            <p:nvSpPr>
              <p:cNvPr id="13" name="Rechteck: abgerundete Ecken 12">
                <a:extLst>
                  <a:ext uri="{FF2B5EF4-FFF2-40B4-BE49-F238E27FC236}">
                    <a16:creationId xmlns:a16="http://schemas.microsoft.com/office/drawing/2014/main" id="{BF44B39B-1A33-0B89-91B0-B1F1B839902D}"/>
                  </a:ext>
                </a:extLst>
              </p:cNvPr>
              <p:cNvSpPr/>
              <p:nvPr/>
            </p:nvSpPr>
            <p:spPr>
              <a:xfrm>
                <a:off x="4741928" y="17122219"/>
                <a:ext cx="1008430" cy="378231"/>
              </a:xfrm>
              <a:prstGeom prst="roundRect">
                <a:avLst/>
              </a:prstGeom>
              <a:solidFill>
                <a:srgbClr val="6D9BAB"/>
              </a:solidFill>
              <a:ln>
                <a:solidFill>
                  <a:srgbClr val="6D9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a:latin typeface="Domine" panose="02040503040403060204"/>
                  </a:rPr>
                  <a:t>Fragment </a:t>
                </a:r>
                <a:r>
                  <a:rPr lang="de-DE" sz="2400" err="1">
                    <a:latin typeface="Domine" panose="02040503040403060204"/>
                  </a:rPr>
                  <a:t>Length</a:t>
                </a:r>
                <a:endParaRPr lang="en-GB" sz="2400">
                  <a:latin typeface="Domine" panose="02040503040403060204"/>
                </a:endParaRPr>
              </a:p>
            </p:txBody>
          </p:sp>
          <p:sp>
            <p:nvSpPr>
              <p:cNvPr id="15" name="Ellipse 14">
                <a:extLst>
                  <a:ext uri="{FF2B5EF4-FFF2-40B4-BE49-F238E27FC236}">
                    <a16:creationId xmlns:a16="http://schemas.microsoft.com/office/drawing/2014/main" id="{61A1BACB-4DC9-9157-149D-7242CDA5EB39}"/>
                  </a:ext>
                </a:extLst>
              </p:cNvPr>
              <p:cNvSpPr/>
              <p:nvPr/>
            </p:nvSpPr>
            <p:spPr>
              <a:xfrm>
                <a:off x="5616879" y="20224896"/>
                <a:ext cx="1401132" cy="496995"/>
              </a:xfrm>
              <a:prstGeom prst="ellipse">
                <a:avLst/>
              </a:prstGeom>
              <a:solidFill>
                <a:srgbClr val="6D9BAB"/>
              </a:solidFill>
              <a:ln>
                <a:solidFill>
                  <a:srgbClr val="6D9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800">
                    <a:latin typeface="Domine" panose="02040503040403060204"/>
                  </a:rPr>
                  <a:t>Classification</a:t>
                </a:r>
                <a:endParaRPr lang="en-GB" sz="2400">
                  <a:latin typeface="Domine" panose="02040503040403060204"/>
                </a:endParaRPr>
              </a:p>
            </p:txBody>
          </p:sp>
          <p:cxnSp>
            <p:nvCxnSpPr>
              <p:cNvPr id="17" name="Gerade Verbindung mit Pfeil 16">
                <a:extLst>
                  <a:ext uri="{FF2B5EF4-FFF2-40B4-BE49-F238E27FC236}">
                    <a16:creationId xmlns:a16="http://schemas.microsoft.com/office/drawing/2014/main" id="{E6DC4D3C-FB86-8BF6-E07E-0EB847EBE8FD}"/>
                  </a:ext>
                </a:extLst>
              </p:cNvPr>
              <p:cNvCxnSpPr>
                <a:cxnSpLocks/>
                <a:stCxn id="12" idx="2"/>
                <a:endCxn id="23" idx="0"/>
              </p:cNvCxnSpPr>
              <p:nvPr/>
            </p:nvCxnSpPr>
            <p:spPr>
              <a:xfrm flipH="1">
                <a:off x="6313559" y="17851335"/>
                <a:ext cx="1" cy="272579"/>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8" name="Gerade Verbindung mit Pfeil 17">
                <a:extLst>
                  <a:ext uri="{FF2B5EF4-FFF2-40B4-BE49-F238E27FC236}">
                    <a16:creationId xmlns:a16="http://schemas.microsoft.com/office/drawing/2014/main" id="{884E6F5E-EB6B-7637-B4E2-A0A5154FC9F4}"/>
                  </a:ext>
                </a:extLst>
              </p:cNvPr>
              <p:cNvCxnSpPr>
                <a:cxnSpLocks/>
                <a:stCxn id="25" idx="2"/>
                <a:endCxn id="15" idx="0"/>
              </p:cNvCxnSpPr>
              <p:nvPr/>
            </p:nvCxnSpPr>
            <p:spPr>
              <a:xfrm>
                <a:off x="6317445" y="19955561"/>
                <a:ext cx="0" cy="269335"/>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19" name="Rechteck: abgerundete Ecken 18">
                <a:extLst>
                  <a:ext uri="{FF2B5EF4-FFF2-40B4-BE49-F238E27FC236}">
                    <a16:creationId xmlns:a16="http://schemas.microsoft.com/office/drawing/2014/main" id="{A80CEC5D-37B1-8657-45C2-3619D819939D}"/>
                  </a:ext>
                </a:extLst>
              </p:cNvPr>
              <p:cNvSpPr/>
              <p:nvPr/>
            </p:nvSpPr>
            <p:spPr>
              <a:xfrm>
                <a:off x="5813231" y="17122218"/>
                <a:ext cx="1008430" cy="378231"/>
              </a:xfrm>
              <a:prstGeom prst="roundRect">
                <a:avLst/>
              </a:prstGeom>
              <a:solidFill>
                <a:srgbClr val="6D9BAB"/>
              </a:solidFill>
              <a:ln>
                <a:solidFill>
                  <a:srgbClr val="6D9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err="1">
                    <a:latin typeface="Domine" panose="02040503040403060204"/>
                  </a:rPr>
                  <a:t>Somatic</a:t>
                </a:r>
                <a:r>
                  <a:rPr lang="de-DE" sz="2400">
                    <a:latin typeface="Domine" panose="02040503040403060204"/>
                  </a:rPr>
                  <a:t> CNA</a:t>
                </a:r>
                <a:endParaRPr lang="en-GB" sz="2400">
                  <a:latin typeface="Domine" panose="02040503040403060204"/>
                </a:endParaRPr>
              </a:p>
            </p:txBody>
          </p:sp>
          <p:sp>
            <p:nvSpPr>
              <p:cNvPr id="20" name="Rechteck: abgerundete Ecken 19">
                <a:extLst>
                  <a:ext uri="{FF2B5EF4-FFF2-40B4-BE49-F238E27FC236}">
                    <a16:creationId xmlns:a16="http://schemas.microsoft.com/office/drawing/2014/main" id="{773CE4B8-95D0-5069-1103-50BA0E84DE89}"/>
                  </a:ext>
                </a:extLst>
              </p:cNvPr>
              <p:cNvSpPr/>
              <p:nvPr/>
            </p:nvSpPr>
            <p:spPr>
              <a:xfrm>
                <a:off x="6884534" y="17122217"/>
                <a:ext cx="1008430" cy="378231"/>
              </a:xfrm>
              <a:prstGeom prst="roundRect">
                <a:avLst/>
              </a:prstGeom>
              <a:solidFill>
                <a:srgbClr val="6D9BAB"/>
              </a:solidFill>
              <a:ln>
                <a:solidFill>
                  <a:srgbClr val="6D9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err="1">
                    <a:latin typeface="Domine" panose="02040503040403060204"/>
                  </a:rPr>
                  <a:t>Nucleosome</a:t>
                </a:r>
                <a:r>
                  <a:rPr lang="de-DE" sz="2400">
                    <a:latin typeface="Domine" panose="02040503040403060204"/>
                  </a:rPr>
                  <a:t> Footprint</a:t>
                </a:r>
                <a:endParaRPr lang="en-GB" sz="2400">
                  <a:latin typeface="Domine" panose="02040503040403060204"/>
                </a:endParaRPr>
              </a:p>
            </p:txBody>
          </p:sp>
          <p:sp>
            <p:nvSpPr>
              <p:cNvPr id="21" name="Textfeld 20">
                <a:extLst>
                  <a:ext uri="{FF2B5EF4-FFF2-40B4-BE49-F238E27FC236}">
                    <a16:creationId xmlns:a16="http://schemas.microsoft.com/office/drawing/2014/main" id="{6EF3FF76-1E09-68EC-6A41-F1D7D0AE9FC6}"/>
                  </a:ext>
                </a:extLst>
              </p:cNvPr>
              <p:cNvSpPr txBox="1"/>
              <p:nvPr/>
            </p:nvSpPr>
            <p:spPr>
              <a:xfrm>
                <a:off x="5179781" y="16814129"/>
                <a:ext cx="2275331" cy="227988"/>
              </a:xfrm>
              <a:prstGeom prst="rect">
                <a:avLst/>
              </a:prstGeom>
              <a:noFill/>
            </p:spPr>
            <p:txBody>
              <a:bodyPr wrap="square" rtlCol="0">
                <a:spAutoFit/>
              </a:bodyPr>
              <a:lstStyle/>
              <a:p>
                <a:pPr algn="ctr"/>
                <a:r>
                  <a:rPr lang="de-DE" sz="2800">
                    <a:solidFill>
                      <a:schemeClr val="tx1"/>
                    </a:solidFill>
                    <a:latin typeface="Domine" panose="02040503040403060204"/>
                  </a:rPr>
                  <a:t>Bioinformatics</a:t>
                </a:r>
                <a:endParaRPr lang="de-DE" sz="2400">
                  <a:solidFill>
                    <a:schemeClr val="tx1"/>
                  </a:solidFill>
                  <a:latin typeface="Domine" panose="02040503040403060204"/>
                </a:endParaRPr>
              </a:p>
            </p:txBody>
          </p:sp>
          <p:grpSp>
            <p:nvGrpSpPr>
              <p:cNvPr id="22" name="Gruppieren 21">
                <a:extLst>
                  <a:ext uri="{FF2B5EF4-FFF2-40B4-BE49-F238E27FC236}">
                    <a16:creationId xmlns:a16="http://schemas.microsoft.com/office/drawing/2014/main" id="{3CFC2E55-3227-F2B8-34DA-495D46445AAE}"/>
                  </a:ext>
                </a:extLst>
              </p:cNvPr>
              <p:cNvGrpSpPr/>
              <p:nvPr/>
            </p:nvGrpSpPr>
            <p:grpSpPr>
              <a:xfrm>
                <a:off x="4476432" y="18875562"/>
                <a:ext cx="3682026" cy="1080000"/>
                <a:chOff x="4476431" y="17506749"/>
                <a:chExt cx="3682026" cy="1080000"/>
              </a:xfrm>
            </p:grpSpPr>
            <p:sp>
              <p:nvSpPr>
                <p:cNvPr id="25" name="Rechteck 24">
                  <a:extLst>
                    <a:ext uri="{FF2B5EF4-FFF2-40B4-BE49-F238E27FC236}">
                      <a16:creationId xmlns:a16="http://schemas.microsoft.com/office/drawing/2014/main" id="{522794D2-866A-0679-9C23-6D68961B35B6}"/>
                    </a:ext>
                  </a:extLst>
                </p:cNvPr>
                <p:cNvSpPr/>
                <p:nvPr/>
              </p:nvSpPr>
              <p:spPr>
                <a:xfrm>
                  <a:off x="4476431" y="17506749"/>
                  <a:ext cx="3682026" cy="1080000"/>
                </a:xfrm>
                <a:prstGeom prst="rect">
                  <a:avLst/>
                </a:prstGeom>
                <a:solidFill>
                  <a:srgbClr val="B3CBD3"/>
                </a:solidFill>
                <a:ln>
                  <a:solidFill>
                    <a:srgbClr val="B3CBD3"/>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sz="2400">
                    <a:solidFill>
                      <a:schemeClr val="tx1"/>
                    </a:solidFill>
                    <a:latin typeface="Domine" panose="02040503040403060204"/>
                  </a:endParaRPr>
                </a:p>
              </p:txBody>
            </p:sp>
            <p:sp>
              <p:nvSpPr>
                <p:cNvPr id="26" name="Rechteck: abgerundete Ecken 25">
                  <a:extLst>
                    <a:ext uri="{FF2B5EF4-FFF2-40B4-BE49-F238E27FC236}">
                      <a16:creationId xmlns:a16="http://schemas.microsoft.com/office/drawing/2014/main" id="{F57D5E99-B6CB-8368-288C-2E46C1D7AC18}"/>
                    </a:ext>
                  </a:extLst>
                </p:cNvPr>
                <p:cNvSpPr/>
                <p:nvPr/>
              </p:nvSpPr>
              <p:spPr>
                <a:xfrm>
                  <a:off x="4745812" y="17857633"/>
                  <a:ext cx="1008430" cy="378231"/>
                </a:xfrm>
                <a:prstGeom prst="roundRect">
                  <a:avLst/>
                </a:prstGeom>
                <a:solidFill>
                  <a:srgbClr val="6D9BAB"/>
                </a:solidFill>
                <a:ln>
                  <a:solidFill>
                    <a:srgbClr val="6D9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a:latin typeface="Domine" panose="02040503040403060204"/>
                    </a:rPr>
                    <a:t>KNN</a:t>
                  </a:r>
                  <a:endParaRPr lang="en-GB" sz="2400">
                    <a:latin typeface="Domine" panose="02040503040403060204"/>
                  </a:endParaRPr>
                </a:p>
              </p:txBody>
            </p:sp>
            <p:sp>
              <p:nvSpPr>
                <p:cNvPr id="27" name="Rechteck: abgerundete Ecken 26">
                  <a:extLst>
                    <a:ext uri="{FF2B5EF4-FFF2-40B4-BE49-F238E27FC236}">
                      <a16:creationId xmlns:a16="http://schemas.microsoft.com/office/drawing/2014/main" id="{9A525795-91AB-EBA5-CE24-FA3E6E3CC477}"/>
                    </a:ext>
                  </a:extLst>
                </p:cNvPr>
                <p:cNvSpPr/>
                <p:nvPr/>
              </p:nvSpPr>
              <p:spPr>
                <a:xfrm>
                  <a:off x="5817115" y="17857180"/>
                  <a:ext cx="1008430" cy="378231"/>
                </a:xfrm>
                <a:prstGeom prst="roundRect">
                  <a:avLst/>
                </a:prstGeom>
                <a:solidFill>
                  <a:srgbClr val="6D9BAB"/>
                </a:solidFill>
                <a:ln>
                  <a:solidFill>
                    <a:srgbClr val="6D9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err="1">
                      <a:latin typeface="Domine" panose="02040503040403060204"/>
                    </a:rPr>
                    <a:t>Logistic</a:t>
                  </a:r>
                  <a:r>
                    <a:rPr lang="de-DE" sz="2400">
                      <a:latin typeface="Domine" panose="02040503040403060204"/>
                    </a:rPr>
                    <a:t> Regression</a:t>
                  </a:r>
                  <a:endParaRPr lang="en-GB" sz="2400">
                    <a:latin typeface="Domine" panose="02040503040403060204"/>
                  </a:endParaRPr>
                </a:p>
              </p:txBody>
            </p:sp>
            <p:sp>
              <p:nvSpPr>
                <p:cNvPr id="28" name="Rechteck: abgerundete Ecken 27">
                  <a:extLst>
                    <a:ext uri="{FF2B5EF4-FFF2-40B4-BE49-F238E27FC236}">
                      <a16:creationId xmlns:a16="http://schemas.microsoft.com/office/drawing/2014/main" id="{839A548C-893D-BABF-D241-FCB497E5E990}"/>
                    </a:ext>
                  </a:extLst>
                </p:cNvPr>
                <p:cNvSpPr/>
                <p:nvPr/>
              </p:nvSpPr>
              <p:spPr>
                <a:xfrm>
                  <a:off x="6888417" y="17857179"/>
                  <a:ext cx="1008430" cy="378231"/>
                </a:xfrm>
                <a:prstGeom prst="roundRect">
                  <a:avLst/>
                </a:prstGeom>
                <a:solidFill>
                  <a:srgbClr val="6D9BAB"/>
                </a:solidFill>
                <a:ln>
                  <a:solidFill>
                    <a:srgbClr val="6D9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a:latin typeface="Domine" panose="02040503040403060204"/>
                    </a:rPr>
                    <a:t>Random Forest</a:t>
                  </a:r>
                  <a:endParaRPr lang="en-GB" sz="2400">
                    <a:latin typeface="Domine" panose="02040503040403060204"/>
                  </a:endParaRPr>
                </a:p>
              </p:txBody>
            </p:sp>
            <p:sp>
              <p:nvSpPr>
                <p:cNvPr id="29" name="Textfeld 28">
                  <a:extLst>
                    <a:ext uri="{FF2B5EF4-FFF2-40B4-BE49-F238E27FC236}">
                      <a16:creationId xmlns:a16="http://schemas.microsoft.com/office/drawing/2014/main" id="{C064AF9F-6431-3AFF-1C84-5849728BCD69}"/>
                    </a:ext>
                  </a:extLst>
                </p:cNvPr>
                <p:cNvSpPr txBox="1"/>
                <p:nvPr/>
              </p:nvSpPr>
              <p:spPr>
                <a:xfrm>
                  <a:off x="5112702" y="17547830"/>
                  <a:ext cx="2279931" cy="227988"/>
                </a:xfrm>
                <a:prstGeom prst="rect">
                  <a:avLst/>
                </a:prstGeom>
                <a:noFill/>
              </p:spPr>
              <p:txBody>
                <a:bodyPr wrap="square" rtlCol="0">
                  <a:spAutoFit/>
                </a:bodyPr>
                <a:lstStyle/>
                <a:p>
                  <a:pPr algn="ctr"/>
                  <a:r>
                    <a:rPr lang="de-DE" sz="2800" err="1">
                      <a:solidFill>
                        <a:schemeClr val="tx1"/>
                      </a:solidFill>
                      <a:latin typeface="Domine" panose="02040503040403060204"/>
                    </a:rPr>
                    <a:t>Machine</a:t>
                  </a:r>
                  <a:r>
                    <a:rPr lang="de-DE" sz="2800">
                      <a:solidFill>
                        <a:schemeClr val="tx1"/>
                      </a:solidFill>
                      <a:latin typeface="Domine" panose="02040503040403060204"/>
                    </a:rPr>
                    <a:t> Learning</a:t>
                  </a:r>
                </a:p>
              </p:txBody>
            </p:sp>
          </p:grpSp>
          <p:sp>
            <p:nvSpPr>
              <p:cNvPr id="23" name="Ellipse 22">
                <a:extLst>
                  <a:ext uri="{FF2B5EF4-FFF2-40B4-BE49-F238E27FC236}">
                    <a16:creationId xmlns:a16="http://schemas.microsoft.com/office/drawing/2014/main" id="{A846F86A-FA6D-885E-C0DE-5E5DAB1E46D0}"/>
                  </a:ext>
                </a:extLst>
              </p:cNvPr>
              <p:cNvSpPr/>
              <p:nvPr/>
            </p:nvSpPr>
            <p:spPr>
              <a:xfrm>
                <a:off x="5612993" y="18123914"/>
                <a:ext cx="1401132" cy="496995"/>
              </a:xfrm>
              <a:prstGeom prst="ellipse">
                <a:avLst/>
              </a:prstGeom>
              <a:solidFill>
                <a:srgbClr val="6D9BAB"/>
              </a:solidFill>
              <a:ln>
                <a:solidFill>
                  <a:srgbClr val="6D9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800">
                    <a:latin typeface="Domine" panose="02040503040403060204"/>
                  </a:rPr>
                  <a:t>Feature Matrix</a:t>
                </a:r>
                <a:endParaRPr lang="en-GB" sz="2800">
                  <a:latin typeface="Domine" panose="02040503040403060204"/>
                </a:endParaRPr>
              </a:p>
            </p:txBody>
          </p:sp>
          <p:cxnSp>
            <p:nvCxnSpPr>
              <p:cNvPr id="24" name="Gerade Verbindung mit Pfeil 23">
                <a:extLst>
                  <a:ext uri="{FF2B5EF4-FFF2-40B4-BE49-F238E27FC236}">
                    <a16:creationId xmlns:a16="http://schemas.microsoft.com/office/drawing/2014/main" id="{325FCAAE-AB31-CEC2-2932-9B17A061C099}"/>
                  </a:ext>
                </a:extLst>
              </p:cNvPr>
              <p:cNvCxnSpPr>
                <a:cxnSpLocks/>
                <a:stCxn id="23" idx="4"/>
                <a:endCxn id="25" idx="0"/>
              </p:cNvCxnSpPr>
              <p:nvPr/>
            </p:nvCxnSpPr>
            <p:spPr>
              <a:xfrm>
                <a:off x="6313559" y="18620909"/>
                <a:ext cx="3885" cy="254653"/>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16" name="Gerade Verbindung mit Pfeil 15">
                <a:extLst>
                  <a:ext uri="{FF2B5EF4-FFF2-40B4-BE49-F238E27FC236}">
                    <a16:creationId xmlns:a16="http://schemas.microsoft.com/office/drawing/2014/main" id="{725FFE64-035C-3154-1740-B28332883190}"/>
                  </a:ext>
                </a:extLst>
              </p:cNvPr>
              <p:cNvCxnSpPr>
                <a:cxnSpLocks/>
                <a:endCxn id="12" idx="0"/>
              </p:cNvCxnSpPr>
              <p:nvPr/>
            </p:nvCxnSpPr>
            <p:spPr>
              <a:xfrm>
                <a:off x="6313560" y="16494412"/>
                <a:ext cx="0" cy="276923"/>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grpSp>
        <p:sp>
          <p:nvSpPr>
            <p:cNvPr id="10" name="Textfeld 9">
              <a:extLst>
                <a:ext uri="{FF2B5EF4-FFF2-40B4-BE49-F238E27FC236}">
                  <a16:creationId xmlns:a16="http://schemas.microsoft.com/office/drawing/2014/main" id="{A48542D7-0FA0-3142-E5F8-B89B1729EB6D}"/>
                </a:ext>
              </a:extLst>
            </p:cNvPr>
            <p:cNvSpPr txBox="1"/>
            <p:nvPr/>
          </p:nvSpPr>
          <p:spPr>
            <a:xfrm>
              <a:off x="2717203" y="19292613"/>
              <a:ext cx="6419984" cy="400110"/>
            </a:xfrm>
            <a:prstGeom prst="rect">
              <a:avLst/>
            </a:prstGeom>
            <a:noFill/>
          </p:spPr>
          <p:txBody>
            <a:bodyPr wrap="square" rtlCol="0">
              <a:spAutoFit/>
            </a:bodyPr>
            <a:lstStyle/>
            <a:p>
              <a:pPr algn="ctr"/>
              <a:r>
                <a:rPr lang="de-DE" sz="2000">
                  <a:solidFill>
                    <a:schemeClr val="tx1"/>
                  </a:solidFill>
                  <a:latin typeface="Domine" panose="02040503040403060204"/>
                </a:rPr>
                <a:t>PDF, </a:t>
              </a:r>
              <a:r>
                <a:rPr lang="de-DE" sz="2000" err="1">
                  <a:solidFill>
                    <a:schemeClr val="tx1"/>
                  </a:solidFill>
                  <a:latin typeface="Domine" panose="02040503040403060204"/>
                </a:rPr>
                <a:t>ichorCNA</a:t>
              </a:r>
              <a:r>
                <a:rPr lang="de-DE" sz="2000">
                  <a:solidFill>
                    <a:schemeClr val="tx1"/>
                  </a:solidFill>
                  <a:latin typeface="Domine" panose="02040503040403060204"/>
                </a:rPr>
                <a:t>, LIQUORICE</a:t>
              </a:r>
            </a:p>
          </p:txBody>
        </p:sp>
        <p:sp>
          <p:nvSpPr>
            <p:cNvPr id="11" name="Textfeld 10">
              <a:extLst>
                <a:ext uri="{FF2B5EF4-FFF2-40B4-BE49-F238E27FC236}">
                  <a16:creationId xmlns:a16="http://schemas.microsoft.com/office/drawing/2014/main" id="{18B6E912-57F0-2860-4C85-D05C534CB7F1}"/>
                </a:ext>
              </a:extLst>
            </p:cNvPr>
            <p:cNvSpPr txBox="1"/>
            <p:nvPr/>
          </p:nvSpPr>
          <p:spPr>
            <a:xfrm>
              <a:off x="3421463" y="23336653"/>
              <a:ext cx="4889338" cy="330553"/>
            </a:xfrm>
            <a:prstGeom prst="rect">
              <a:avLst/>
            </a:prstGeom>
            <a:noFill/>
          </p:spPr>
          <p:txBody>
            <a:bodyPr wrap="square" rtlCol="0">
              <a:spAutoFit/>
            </a:bodyPr>
            <a:lstStyle/>
            <a:p>
              <a:pPr algn="ctr"/>
              <a:r>
                <a:rPr lang="de-DE" sz="2000" err="1">
                  <a:solidFill>
                    <a:schemeClr val="tx1"/>
                  </a:solidFill>
                  <a:latin typeface="Domine" panose="02040503040403060204"/>
                </a:rPr>
                <a:t>sklearn</a:t>
              </a:r>
              <a:endParaRPr lang="de-DE" sz="2000">
                <a:solidFill>
                  <a:schemeClr val="tx1"/>
                </a:solidFill>
                <a:latin typeface="Domine" panose="02040503040403060204"/>
              </a:endParaRPr>
            </a:p>
          </p:txBody>
        </p:sp>
      </p:grpSp>
      <p:grpSp>
        <p:nvGrpSpPr>
          <p:cNvPr id="82" name="Gruppieren 81">
            <a:extLst>
              <a:ext uri="{FF2B5EF4-FFF2-40B4-BE49-F238E27FC236}">
                <a16:creationId xmlns:a16="http://schemas.microsoft.com/office/drawing/2014/main" id="{6FC9B469-6AF6-CF13-C328-9E6D6D6485A9}"/>
              </a:ext>
            </a:extLst>
          </p:cNvPr>
          <p:cNvGrpSpPr/>
          <p:nvPr/>
        </p:nvGrpSpPr>
        <p:grpSpPr>
          <a:xfrm>
            <a:off x="23098398" y="7969047"/>
            <a:ext cx="9000573" cy="9254321"/>
            <a:chOff x="23098398" y="7881036"/>
            <a:chExt cx="9000573" cy="9254321"/>
          </a:xfrm>
        </p:grpSpPr>
        <p:sp>
          <p:nvSpPr>
            <p:cNvPr id="8" name="TextBox 91">
              <a:extLst>
                <a:ext uri="{FF2B5EF4-FFF2-40B4-BE49-F238E27FC236}">
                  <a16:creationId xmlns:a16="http://schemas.microsoft.com/office/drawing/2014/main" id="{63D156BA-FD94-1235-9867-8C3A3AAC7693}"/>
                </a:ext>
              </a:extLst>
            </p:cNvPr>
            <p:cNvSpPr txBox="1"/>
            <p:nvPr/>
          </p:nvSpPr>
          <p:spPr>
            <a:xfrm>
              <a:off x="23098971" y="15935028"/>
              <a:ext cx="9000000" cy="1200329"/>
            </a:xfrm>
            <a:prstGeom prst="rect">
              <a:avLst/>
            </a:prstGeom>
            <a:noFill/>
          </p:spPr>
          <p:txBody>
            <a:bodyPr wrap="square" rtlCol="0">
              <a:spAutoFit/>
            </a:bodyPr>
            <a:lstStyle>
              <a:defPPr>
                <a:defRPr kern="1200"/>
              </a:defPPr>
            </a:lstStyle>
            <a:p>
              <a:pPr algn="just"/>
              <a:r>
                <a:rPr lang="en-US" sz="2400" b="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Fig. 5: Fragment length distribution. </a:t>
              </a:r>
              <a:r>
                <a:rPr lang="en-US" sz="240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Fragment lengths features selected by Lasso penalty (C value) of logistic regression. Typically found close to local maxima and minima. </a:t>
              </a:r>
            </a:p>
          </p:txBody>
        </p:sp>
        <p:pic>
          <p:nvPicPr>
            <p:cNvPr id="64" name="Grafik 63">
              <a:extLst>
                <a:ext uri="{FF2B5EF4-FFF2-40B4-BE49-F238E27FC236}">
                  <a16:creationId xmlns:a16="http://schemas.microsoft.com/office/drawing/2014/main" id="{4A711322-3FB4-A894-23D6-EC421DF895FA}"/>
                </a:ext>
              </a:extLst>
            </p:cNvPr>
            <p:cNvPicPr>
              <a:picLocks noChangeAspect="1"/>
            </p:cNvPicPr>
            <p:nvPr/>
          </p:nvPicPr>
          <p:blipFill rotWithShape="1">
            <a:blip r:embed="rId4">
              <a:extLst>
                <a:ext uri="{28A0092B-C50C-407E-A947-70E740481C1C}">
                  <a14:useLocalDpi xmlns:a14="http://schemas.microsoft.com/office/drawing/2010/main" val="0"/>
                </a:ext>
              </a:extLst>
            </a:blip>
            <a:srcRect t="10650" r="6160" b="5246"/>
            <a:stretch/>
          </p:blipFill>
          <p:spPr>
            <a:xfrm>
              <a:off x="23098398" y="7881036"/>
              <a:ext cx="9000000" cy="8066147"/>
            </a:xfrm>
            <a:prstGeom prst="rect">
              <a:avLst/>
            </a:prstGeom>
          </p:spPr>
        </p:pic>
      </p:grpSp>
      <p:grpSp>
        <p:nvGrpSpPr>
          <p:cNvPr id="94" name="Gruppieren 93">
            <a:extLst>
              <a:ext uri="{FF2B5EF4-FFF2-40B4-BE49-F238E27FC236}">
                <a16:creationId xmlns:a16="http://schemas.microsoft.com/office/drawing/2014/main" id="{FE5EEA3A-7F45-F488-B23C-98D6E5DBEAE9}"/>
              </a:ext>
            </a:extLst>
          </p:cNvPr>
          <p:cNvGrpSpPr/>
          <p:nvPr/>
        </p:nvGrpSpPr>
        <p:grpSpPr>
          <a:xfrm>
            <a:off x="23087166" y="17325492"/>
            <a:ext cx="9642427" cy="5215526"/>
            <a:chOff x="23087166" y="17325492"/>
            <a:chExt cx="9642427" cy="5215526"/>
          </a:xfrm>
        </p:grpSpPr>
        <p:grpSp>
          <p:nvGrpSpPr>
            <p:cNvPr id="127" name="Gruppieren 126">
              <a:extLst>
                <a:ext uri="{FF2B5EF4-FFF2-40B4-BE49-F238E27FC236}">
                  <a16:creationId xmlns:a16="http://schemas.microsoft.com/office/drawing/2014/main" id="{2BE73219-EEF6-A671-7C60-BE86EDE10FF1}"/>
                </a:ext>
              </a:extLst>
            </p:cNvPr>
            <p:cNvGrpSpPr/>
            <p:nvPr/>
          </p:nvGrpSpPr>
          <p:grpSpPr>
            <a:xfrm>
              <a:off x="23098971" y="17839662"/>
              <a:ext cx="8843245" cy="4701356"/>
              <a:chOff x="23030435" y="15803331"/>
              <a:chExt cx="8843245" cy="4701356"/>
            </a:xfrm>
          </p:grpSpPr>
          <p:sp>
            <p:nvSpPr>
              <p:cNvPr id="59" name="TextBox 91">
                <a:extLst>
                  <a:ext uri="{FF2B5EF4-FFF2-40B4-BE49-F238E27FC236}">
                    <a16:creationId xmlns:a16="http://schemas.microsoft.com/office/drawing/2014/main" id="{BFD99FAE-30F3-4AE1-F2AE-794FA41A7F98}"/>
                  </a:ext>
                </a:extLst>
              </p:cNvPr>
              <p:cNvSpPr txBox="1"/>
              <p:nvPr/>
            </p:nvSpPr>
            <p:spPr>
              <a:xfrm>
                <a:off x="28154209" y="15803331"/>
                <a:ext cx="3719471" cy="3046988"/>
              </a:xfrm>
              <a:prstGeom prst="rect">
                <a:avLst/>
              </a:prstGeom>
              <a:noFill/>
            </p:spPr>
            <p:txBody>
              <a:bodyPr wrap="square" rtlCol="0">
                <a:spAutoFit/>
              </a:bodyPr>
              <a:lstStyle>
                <a:defPPr>
                  <a:defRPr kern="1200"/>
                </a:defPPr>
              </a:lstStyle>
              <a:p>
                <a:pPr algn="just"/>
                <a:r>
                  <a:rPr lang="en-US" sz="2400" b="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Fig. 6: Mean and standard deviation of the macro F1 scores across folds (5-fold CV) for different models. </a:t>
                </a:r>
                <a:r>
                  <a:rPr lang="en-US" sz="240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Logistic regression (0.91) outperformed Random Forest (0.79) and K-nearest </a:t>
                </a:r>
                <a:r>
                  <a:rPr lang="en-US" sz="2400" err="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neighbours</a:t>
                </a:r>
                <a:r>
                  <a:rPr lang="en-US" sz="240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(0.78).</a:t>
                </a:r>
              </a:p>
            </p:txBody>
          </p:sp>
          <p:pic>
            <p:nvPicPr>
              <p:cNvPr id="118" name="Grafik 117">
                <a:extLst>
                  <a:ext uri="{FF2B5EF4-FFF2-40B4-BE49-F238E27FC236}">
                    <a16:creationId xmlns:a16="http://schemas.microsoft.com/office/drawing/2014/main" id="{16164B19-2165-3216-187F-4E0E461F407A}"/>
                  </a:ext>
                </a:extLst>
              </p:cNvPr>
              <p:cNvPicPr>
                <a:picLocks noChangeAspect="1"/>
              </p:cNvPicPr>
              <p:nvPr/>
            </p:nvPicPr>
            <p:blipFill rotWithShape="1">
              <a:blip r:embed="rId5">
                <a:extLst>
                  <a:ext uri="{28A0092B-C50C-407E-A947-70E740481C1C}">
                    <a14:useLocalDpi xmlns:a14="http://schemas.microsoft.com/office/drawing/2010/main" val="0"/>
                  </a:ext>
                </a:extLst>
              </a:blip>
              <a:srcRect t="8157" r="6043" b="4510"/>
              <a:stretch/>
            </p:blipFill>
            <p:spPr>
              <a:xfrm>
                <a:off x="23030435" y="15816920"/>
                <a:ext cx="5043328" cy="4687767"/>
              </a:xfrm>
              <a:prstGeom prst="rect">
                <a:avLst/>
              </a:prstGeom>
              <a:solidFill>
                <a:schemeClr val="bg1"/>
              </a:solidFill>
            </p:spPr>
          </p:pic>
        </p:grpSp>
        <p:sp>
          <p:nvSpPr>
            <p:cNvPr id="41" name="Textfeld 40">
              <a:extLst>
                <a:ext uri="{FF2B5EF4-FFF2-40B4-BE49-F238E27FC236}">
                  <a16:creationId xmlns:a16="http://schemas.microsoft.com/office/drawing/2014/main" id="{6A43E037-C4F0-E42B-2EFF-D3F6125E61DE}"/>
                </a:ext>
              </a:extLst>
            </p:cNvPr>
            <p:cNvSpPr txBox="1"/>
            <p:nvPr/>
          </p:nvSpPr>
          <p:spPr>
            <a:xfrm>
              <a:off x="23087166" y="17325492"/>
              <a:ext cx="9642427" cy="523220"/>
            </a:xfrm>
            <a:prstGeom prst="rect">
              <a:avLst/>
            </a:prstGeom>
            <a:noFill/>
          </p:spPr>
          <p:txBody>
            <a:bodyPr wrap="square" rtlCol="0">
              <a:spAutoFit/>
            </a:bodyPr>
            <a:lstStyle/>
            <a:p>
              <a:r>
                <a:rPr lang="de-DE" sz="2800" b="1" err="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Logistic</a:t>
              </a:r>
              <a:r>
                <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 </a:t>
              </a:r>
              <a:r>
                <a:rPr lang="de-DE" sz="2800" b="1" err="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regression</a:t>
              </a:r>
              <a:r>
                <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 </a:t>
              </a:r>
              <a:r>
                <a:rPr lang="de-DE" sz="2800" b="1" err="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model</a:t>
              </a:r>
              <a:r>
                <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 </a:t>
              </a:r>
              <a:r>
                <a:rPr lang="de-DE" sz="2800" b="1" err="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yields</a:t>
              </a:r>
              <a:r>
                <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 </a:t>
              </a:r>
              <a:r>
                <a:rPr lang="de-DE" sz="2800" b="1" err="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highest</a:t>
              </a:r>
              <a:r>
                <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 F1 </a:t>
              </a:r>
              <a:r>
                <a:rPr lang="de-DE" sz="2800" b="1" err="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scores</a:t>
              </a:r>
              <a:endPar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endParaRPr>
            </a:p>
          </p:txBody>
        </p:sp>
      </p:grpSp>
      <p:grpSp>
        <p:nvGrpSpPr>
          <p:cNvPr id="96" name="Gruppieren 95">
            <a:extLst>
              <a:ext uri="{FF2B5EF4-FFF2-40B4-BE49-F238E27FC236}">
                <a16:creationId xmlns:a16="http://schemas.microsoft.com/office/drawing/2014/main" id="{C5560DAD-90D3-8BAF-B0FC-3D1D04C42D65}"/>
              </a:ext>
            </a:extLst>
          </p:cNvPr>
          <p:cNvGrpSpPr/>
          <p:nvPr/>
        </p:nvGrpSpPr>
        <p:grpSpPr>
          <a:xfrm>
            <a:off x="12077101" y="22644003"/>
            <a:ext cx="9297505" cy="6698600"/>
            <a:chOff x="12077101" y="22644003"/>
            <a:chExt cx="9297505" cy="6698600"/>
          </a:xfrm>
        </p:grpSpPr>
        <p:grpSp>
          <p:nvGrpSpPr>
            <p:cNvPr id="88" name="Gruppieren 87">
              <a:extLst>
                <a:ext uri="{FF2B5EF4-FFF2-40B4-BE49-F238E27FC236}">
                  <a16:creationId xmlns:a16="http://schemas.microsoft.com/office/drawing/2014/main" id="{C2564B2E-F6D4-A4E3-B1BC-28BC6E08269C}"/>
                </a:ext>
              </a:extLst>
            </p:cNvPr>
            <p:cNvGrpSpPr/>
            <p:nvPr/>
          </p:nvGrpSpPr>
          <p:grpSpPr>
            <a:xfrm>
              <a:off x="12077101" y="23128359"/>
              <a:ext cx="9144000" cy="6214244"/>
              <a:chOff x="12056361" y="22202627"/>
              <a:chExt cx="9144000" cy="6214244"/>
            </a:xfrm>
          </p:grpSpPr>
          <p:grpSp>
            <p:nvGrpSpPr>
              <p:cNvPr id="120" name="Gruppieren 119">
                <a:extLst>
                  <a:ext uri="{FF2B5EF4-FFF2-40B4-BE49-F238E27FC236}">
                    <a16:creationId xmlns:a16="http://schemas.microsoft.com/office/drawing/2014/main" id="{C14E7CBC-4EAE-F020-0DDF-FB61D7953736}"/>
                  </a:ext>
                </a:extLst>
              </p:cNvPr>
              <p:cNvGrpSpPr/>
              <p:nvPr/>
            </p:nvGrpSpPr>
            <p:grpSpPr>
              <a:xfrm>
                <a:off x="12056361" y="22202627"/>
                <a:ext cx="9144000" cy="6214244"/>
                <a:chOff x="12097779" y="21762989"/>
                <a:chExt cx="9144000" cy="6214244"/>
              </a:xfrm>
            </p:grpSpPr>
            <p:pic>
              <p:nvPicPr>
                <p:cNvPr id="112" name="Grafik 111">
                  <a:extLst>
                    <a:ext uri="{FF2B5EF4-FFF2-40B4-BE49-F238E27FC236}">
                      <a16:creationId xmlns:a16="http://schemas.microsoft.com/office/drawing/2014/main" id="{30F36A8F-3566-8138-283A-416AAB783F22}"/>
                    </a:ext>
                  </a:extLst>
                </p:cNvPr>
                <p:cNvPicPr>
                  <a:picLocks noChangeAspect="1"/>
                </p:cNvPicPr>
                <p:nvPr/>
              </p:nvPicPr>
              <p:blipFill rotWithShape="1">
                <a:blip r:embed="rId6"/>
                <a:srcRect t="7695"/>
                <a:stretch/>
              </p:blipFill>
              <p:spPr>
                <a:xfrm>
                  <a:off x="12107997" y="21762989"/>
                  <a:ext cx="9000000" cy="4598742"/>
                </a:xfrm>
                <a:prstGeom prst="rect">
                  <a:avLst/>
                </a:prstGeom>
              </p:spPr>
            </p:pic>
            <p:sp>
              <p:nvSpPr>
                <p:cNvPr id="119" name="TextBox 91">
                  <a:extLst>
                    <a:ext uri="{FF2B5EF4-FFF2-40B4-BE49-F238E27FC236}">
                      <a16:creationId xmlns:a16="http://schemas.microsoft.com/office/drawing/2014/main" id="{2281F5CA-413E-A8AD-11C4-B62322A99AB5}"/>
                    </a:ext>
                  </a:extLst>
                </p:cNvPr>
                <p:cNvSpPr txBox="1"/>
                <p:nvPr/>
              </p:nvSpPr>
              <p:spPr>
                <a:xfrm>
                  <a:off x="12097779" y="26407573"/>
                  <a:ext cx="9144000" cy="1569660"/>
                </a:xfrm>
                <a:prstGeom prst="rect">
                  <a:avLst/>
                </a:prstGeom>
                <a:noFill/>
              </p:spPr>
              <p:txBody>
                <a:bodyPr wrap="square" rtlCol="0">
                  <a:spAutoFit/>
                </a:bodyPr>
                <a:lstStyle>
                  <a:defPPr>
                    <a:defRPr kern="1200"/>
                  </a:defPPr>
                </a:lstStyle>
                <a:p>
                  <a:pPr algn="just"/>
                  <a:r>
                    <a:rPr lang="en-US" sz="2400" b="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Fig. 4: LIQUORICE output. Overlay plot for hematopoietic specific region-set</a:t>
                  </a:r>
                  <a:r>
                    <a:rPr lang="en-US" sz="240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Compared to healthy samples,  some cancer samples display increased coverage indicating silenced gene regions, while others show decreased coverage indicating increased expression.</a:t>
                  </a:r>
                </a:p>
              </p:txBody>
            </p:sp>
          </p:grpSp>
          <p:pic>
            <p:nvPicPr>
              <p:cNvPr id="87" name="Grafik 86">
                <a:extLst>
                  <a:ext uri="{FF2B5EF4-FFF2-40B4-BE49-F238E27FC236}">
                    <a16:creationId xmlns:a16="http://schemas.microsoft.com/office/drawing/2014/main" id="{213FC638-B57F-65A4-1058-5A9A3A385257}"/>
                  </a:ext>
                </a:extLst>
              </p:cNvPr>
              <p:cNvPicPr>
                <a:picLocks noChangeAspect="1"/>
              </p:cNvPicPr>
              <p:nvPr/>
            </p:nvPicPr>
            <p:blipFill>
              <a:blip r:embed="rId7"/>
              <a:stretch>
                <a:fillRect/>
              </a:stretch>
            </p:blipFill>
            <p:spPr>
              <a:xfrm>
                <a:off x="12918146" y="22315392"/>
                <a:ext cx="5983982" cy="1182377"/>
              </a:xfrm>
              <a:prstGeom prst="rect">
                <a:avLst/>
              </a:prstGeom>
            </p:spPr>
          </p:pic>
        </p:grpSp>
        <p:sp>
          <p:nvSpPr>
            <p:cNvPr id="61" name="Textfeld 60">
              <a:extLst>
                <a:ext uri="{FF2B5EF4-FFF2-40B4-BE49-F238E27FC236}">
                  <a16:creationId xmlns:a16="http://schemas.microsoft.com/office/drawing/2014/main" id="{D24350CF-3D99-FDA0-4AB9-5A83DEF2F7A5}"/>
                </a:ext>
              </a:extLst>
            </p:cNvPr>
            <p:cNvSpPr txBox="1"/>
            <p:nvPr/>
          </p:nvSpPr>
          <p:spPr>
            <a:xfrm>
              <a:off x="12087101" y="22644003"/>
              <a:ext cx="9287505" cy="523220"/>
            </a:xfrm>
            <a:prstGeom prst="rect">
              <a:avLst/>
            </a:prstGeom>
            <a:noFill/>
          </p:spPr>
          <p:txBody>
            <a:bodyPr wrap="square" rtlCol="0">
              <a:spAutoFit/>
            </a:bodyPr>
            <a:lstStyle/>
            <a:p>
              <a:r>
                <a:rPr lang="de-DE" sz="2800" b="1" err="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Altered</a:t>
              </a:r>
              <a:r>
                <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 </a:t>
              </a:r>
              <a:r>
                <a:rPr lang="de-DE" sz="2800" b="1" err="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coverage</a:t>
              </a:r>
              <a:r>
                <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 </a:t>
              </a:r>
              <a:r>
                <a:rPr lang="de-DE" sz="2800" b="1" err="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profiles</a:t>
              </a:r>
              <a:endPar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endParaRPr>
            </a:p>
          </p:txBody>
        </p:sp>
      </p:grpSp>
      <p:grpSp>
        <p:nvGrpSpPr>
          <p:cNvPr id="91" name="Gruppieren 90">
            <a:extLst>
              <a:ext uri="{FF2B5EF4-FFF2-40B4-BE49-F238E27FC236}">
                <a16:creationId xmlns:a16="http://schemas.microsoft.com/office/drawing/2014/main" id="{CC5B530D-7BCD-34EE-3F84-523D9CD612EF}"/>
              </a:ext>
            </a:extLst>
          </p:cNvPr>
          <p:cNvGrpSpPr/>
          <p:nvPr/>
        </p:nvGrpSpPr>
        <p:grpSpPr>
          <a:xfrm>
            <a:off x="12077100" y="14577043"/>
            <a:ext cx="9288339" cy="7740599"/>
            <a:chOff x="12077100" y="14577043"/>
            <a:chExt cx="9288339" cy="7740599"/>
          </a:xfrm>
        </p:grpSpPr>
        <p:grpSp>
          <p:nvGrpSpPr>
            <p:cNvPr id="81" name="Gruppieren 80">
              <a:extLst>
                <a:ext uri="{FF2B5EF4-FFF2-40B4-BE49-F238E27FC236}">
                  <a16:creationId xmlns:a16="http://schemas.microsoft.com/office/drawing/2014/main" id="{DA9D468A-4AF9-59D1-5D1B-2D52446F1AE5}"/>
                </a:ext>
              </a:extLst>
            </p:cNvPr>
            <p:cNvGrpSpPr/>
            <p:nvPr/>
          </p:nvGrpSpPr>
          <p:grpSpPr>
            <a:xfrm>
              <a:off x="12077100" y="15002089"/>
              <a:ext cx="9024979" cy="7315553"/>
              <a:chOff x="12033953" y="14564148"/>
              <a:chExt cx="9119169" cy="7315553"/>
            </a:xfrm>
          </p:grpSpPr>
          <p:sp>
            <p:nvSpPr>
              <p:cNvPr id="68" name="TextBox 91">
                <a:extLst>
                  <a:ext uri="{FF2B5EF4-FFF2-40B4-BE49-F238E27FC236}">
                    <a16:creationId xmlns:a16="http://schemas.microsoft.com/office/drawing/2014/main" id="{513AE407-726D-7ACC-F441-18F5E6CD1465}"/>
                  </a:ext>
                </a:extLst>
              </p:cNvPr>
              <p:cNvSpPr txBox="1"/>
              <p:nvPr/>
            </p:nvSpPr>
            <p:spPr>
              <a:xfrm>
                <a:off x="12033953" y="20310041"/>
                <a:ext cx="9000000" cy="1569660"/>
              </a:xfrm>
              <a:prstGeom prst="rect">
                <a:avLst/>
              </a:prstGeom>
              <a:noFill/>
            </p:spPr>
            <p:txBody>
              <a:bodyPr wrap="square" rtlCol="0">
                <a:spAutoFit/>
              </a:bodyPr>
              <a:lstStyle>
                <a:defPPr>
                  <a:defRPr kern="1200"/>
                </a:defPPr>
              </a:lstStyle>
              <a:p>
                <a:pPr algn="just"/>
                <a:r>
                  <a:rPr lang="en-US" sz="2400" b="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Fig. 3: Output of </a:t>
                </a:r>
                <a:r>
                  <a:rPr lang="en-US" sz="2400" b="1" err="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ichorCNA</a:t>
                </a:r>
                <a:r>
                  <a:rPr lang="en-US" sz="2400" b="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of a lung cancer sample. A: </a:t>
                </a:r>
                <a:r>
                  <a:rPr lang="en-US" sz="2400" err="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ichorCNA</a:t>
                </a:r>
                <a:r>
                  <a:rPr lang="en-US" sz="240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estimates </a:t>
                </a:r>
                <a:r>
                  <a:rPr lang="en-US" sz="2400" err="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tumour</a:t>
                </a:r>
                <a:r>
                  <a:rPr lang="en-US" sz="240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fraction and ploidy and predicts CNAs (green/ red). </a:t>
                </a:r>
                <a:r>
                  <a:rPr lang="en-US" sz="2400" b="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B</a:t>
                </a:r>
                <a:r>
                  <a:rPr lang="en-US" sz="240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Most of the samples do not display increased </a:t>
                </a:r>
                <a:r>
                  <a:rPr lang="en-US" sz="2400" err="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tumour</a:t>
                </a:r>
                <a:r>
                  <a:rPr lang="en-US" sz="240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fractions compared to healthy controls.</a:t>
                </a:r>
              </a:p>
            </p:txBody>
          </p:sp>
          <p:grpSp>
            <p:nvGrpSpPr>
              <p:cNvPr id="53" name="Gruppieren 52">
                <a:extLst>
                  <a:ext uri="{FF2B5EF4-FFF2-40B4-BE49-F238E27FC236}">
                    <a16:creationId xmlns:a16="http://schemas.microsoft.com/office/drawing/2014/main" id="{639E961D-18BD-F92E-53FC-684FF3E2AD12}"/>
                  </a:ext>
                </a:extLst>
              </p:cNvPr>
              <p:cNvGrpSpPr/>
              <p:nvPr/>
            </p:nvGrpSpPr>
            <p:grpSpPr>
              <a:xfrm>
                <a:off x="12059193" y="14564148"/>
                <a:ext cx="9093929" cy="5760753"/>
                <a:chOff x="21097106" y="14436255"/>
                <a:chExt cx="9093929" cy="5760753"/>
              </a:xfrm>
            </p:grpSpPr>
            <p:sp>
              <p:nvSpPr>
                <p:cNvPr id="65" name="Rechteck 64">
                  <a:extLst>
                    <a:ext uri="{FF2B5EF4-FFF2-40B4-BE49-F238E27FC236}">
                      <a16:creationId xmlns:a16="http://schemas.microsoft.com/office/drawing/2014/main" id="{6DC215BB-9C6F-7E3B-2420-3695129CA7D0}"/>
                    </a:ext>
                  </a:extLst>
                </p:cNvPr>
                <p:cNvSpPr/>
                <p:nvPr/>
              </p:nvSpPr>
              <p:spPr>
                <a:xfrm>
                  <a:off x="21097106" y="14491471"/>
                  <a:ext cx="9093929" cy="57055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6" name="Gruppieren 65">
                  <a:extLst>
                    <a:ext uri="{FF2B5EF4-FFF2-40B4-BE49-F238E27FC236}">
                      <a16:creationId xmlns:a16="http://schemas.microsoft.com/office/drawing/2014/main" id="{93EB47A4-5344-E71F-0305-C3F3EB21ED76}"/>
                    </a:ext>
                  </a:extLst>
                </p:cNvPr>
                <p:cNvGrpSpPr/>
                <p:nvPr/>
              </p:nvGrpSpPr>
              <p:grpSpPr>
                <a:xfrm>
                  <a:off x="21121596" y="14436255"/>
                  <a:ext cx="8899771" cy="5751869"/>
                  <a:chOff x="21121596" y="14436255"/>
                  <a:chExt cx="8899771" cy="5751869"/>
                </a:xfrm>
              </p:grpSpPr>
              <p:pic>
                <p:nvPicPr>
                  <p:cNvPr id="67" name="Grafik 66">
                    <a:extLst>
                      <a:ext uri="{FF2B5EF4-FFF2-40B4-BE49-F238E27FC236}">
                        <a16:creationId xmlns:a16="http://schemas.microsoft.com/office/drawing/2014/main" id="{6750660F-453F-58C0-3E93-8E3D747D920A}"/>
                      </a:ext>
                    </a:extLst>
                  </p:cNvPr>
                  <p:cNvPicPr>
                    <a:picLocks noChangeAspect="1"/>
                  </p:cNvPicPr>
                  <p:nvPr/>
                </p:nvPicPr>
                <p:blipFill rotWithShape="1">
                  <a:blip r:embed="rId8">
                    <a:extLst>
                      <a:ext uri="{28A0092B-C50C-407E-A947-70E740481C1C}">
                        <a14:useLocalDpi xmlns:a14="http://schemas.microsoft.com/office/drawing/2010/main" val="0"/>
                      </a:ext>
                    </a:extLst>
                  </a:blip>
                  <a:srcRect l="4775" r="8589"/>
                  <a:stretch/>
                </p:blipFill>
                <p:spPr>
                  <a:xfrm>
                    <a:off x="21152062" y="17321692"/>
                    <a:ext cx="8869305" cy="2866432"/>
                  </a:xfrm>
                  <a:prstGeom prst="rect">
                    <a:avLst/>
                  </a:prstGeom>
                </p:spPr>
              </p:pic>
              <p:grpSp>
                <p:nvGrpSpPr>
                  <p:cNvPr id="71" name="Gruppieren 70">
                    <a:extLst>
                      <a:ext uri="{FF2B5EF4-FFF2-40B4-BE49-F238E27FC236}">
                        <a16:creationId xmlns:a16="http://schemas.microsoft.com/office/drawing/2014/main" id="{4482DE4D-D3BB-4A84-13E9-92B68E0B2350}"/>
                      </a:ext>
                    </a:extLst>
                  </p:cNvPr>
                  <p:cNvGrpSpPr/>
                  <p:nvPr/>
                </p:nvGrpSpPr>
                <p:grpSpPr>
                  <a:xfrm>
                    <a:off x="21121596" y="14436255"/>
                    <a:ext cx="8863334" cy="3514759"/>
                    <a:chOff x="21121596" y="14436255"/>
                    <a:chExt cx="8863334" cy="3514759"/>
                  </a:xfrm>
                </p:grpSpPr>
                <p:sp>
                  <p:nvSpPr>
                    <p:cNvPr id="73" name="Textfeld 72">
                      <a:extLst>
                        <a:ext uri="{FF2B5EF4-FFF2-40B4-BE49-F238E27FC236}">
                          <a16:creationId xmlns:a16="http://schemas.microsoft.com/office/drawing/2014/main" id="{57D95BC0-52DF-EA73-2DB6-EB52DC8357CE}"/>
                        </a:ext>
                      </a:extLst>
                    </p:cNvPr>
                    <p:cNvSpPr txBox="1"/>
                    <p:nvPr/>
                  </p:nvSpPr>
                  <p:spPr>
                    <a:xfrm>
                      <a:off x="21157893" y="14436255"/>
                      <a:ext cx="487976" cy="461665"/>
                    </a:xfrm>
                    <a:prstGeom prst="rect">
                      <a:avLst/>
                    </a:prstGeom>
                    <a:noFill/>
                  </p:spPr>
                  <p:txBody>
                    <a:bodyPr wrap="square" rtlCol="0">
                      <a:spAutoFit/>
                    </a:bodyPr>
                    <a:lstStyle/>
                    <a:p>
                      <a:r>
                        <a:rPr lang="de-DE" sz="2400" b="1"/>
                        <a:t>A</a:t>
                      </a:r>
                      <a:endParaRPr lang="en-GB" sz="2400" b="1"/>
                    </a:p>
                  </p:txBody>
                </p:sp>
                <p:grpSp>
                  <p:nvGrpSpPr>
                    <p:cNvPr id="74" name="Gruppieren 73">
                      <a:extLst>
                        <a:ext uri="{FF2B5EF4-FFF2-40B4-BE49-F238E27FC236}">
                          <a16:creationId xmlns:a16="http://schemas.microsoft.com/office/drawing/2014/main" id="{0C68EECC-E4C7-9B1F-C6CC-56B119428931}"/>
                        </a:ext>
                      </a:extLst>
                    </p:cNvPr>
                    <p:cNvGrpSpPr/>
                    <p:nvPr/>
                  </p:nvGrpSpPr>
                  <p:grpSpPr>
                    <a:xfrm>
                      <a:off x="21121596" y="14531365"/>
                      <a:ext cx="8863334" cy="3419649"/>
                      <a:chOff x="21121596" y="14531365"/>
                      <a:chExt cx="8863334" cy="3419649"/>
                    </a:xfrm>
                  </p:grpSpPr>
                  <p:grpSp>
                    <p:nvGrpSpPr>
                      <p:cNvPr id="75" name="Gruppieren 74">
                        <a:extLst>
                          <a:ext uri="{FF2B5EF4-FFF2-40B4-BE49-F238E27FC236}">
                            <a16:creationId xmlns:a16="http://schemas.microsoft.com/office/drawing/2014/main" id="{F100FEB3-9FC1-FA92-3A55-93376476F2F1}"/>
                          </a:ext>
                        </a:extLst>
                      </p:cNvPr>
                      <p:cNvGrpSpPr/>
                      <p:nvPr/>
                    </p:nvGrpSpPr>
                    <p:grpSpPr>
                      <a:xfrm>
                        <a:off x="21418532" y="15037320"/>
                        <a:ext cx="8566398" cy="2351004"/>
                        <a:chOff x="21418535" y="16065335"/>
                        <a:chExt cx="5047397" cy="1385235"/>
                      </a:xfrm>
                    </p:grpSpPr>
                    <p:pic>
                      <p:nvPicPr>
                        <p:cNvPr id="79" name="Grafik 78">
                          <a:extLst>
                            <a:ext uri="{FF2B5EF4-FFF2-40B4-BE49-F238E27FC236}">
                              <a16:creationId xmlns:a16="http://schemas.microsoft.com/office/drawing/2014/main" id="{024BF641-3172-31C3-1038-5D2B8FE813D9}"/>
                            </a:ext>
                          </a:extLst>
                        </p:cNvPr>
                        <p:cNvPicPr>
                          <a:picLocks noChangeAspect="1"/>
                        </p:cNvPicPr>
                        <p:nvPr/>
                      </p:nvPicPr>
                      <p:blipFill rotWithShape="1">
                        <a:blip r:embed="rId9"/>
                        <a:srcRect l="4968" t="24210" r="43347" b="31308"/>
                        <a:stretch/>
                      </p:blipFill>
                      <p:spPr>
                        <a:xfrm>
                          <a:off x="21418535" y="16065335"/>
                          <a:ext cx="5047397" cy="1345974"/>
                        </a:xfrm>
                        <a:prstGeom prst="rect">
                          <a:avLst/>
                        </a:prstGeom>
                      </p:spPr>
                    </p:pic>
                    <p:pic>
                      <p:nvPicPr>
                        <p:cNvPr id="80" name="Grafik 79">
                          <a:extLst>
                            <a:ext uri="{FF2B5EF4-FFF2-40B4-BE49-F238E27FC236}">
                              <a16:creationId xmlns:a16="http://schemas.microsoft.com/office/drawing/2014/main" id="{54B7AB4D-8974-424B-B9FF-B9ED51A13DEA}"/>
                            </a:ext>
                          </a:extLst>
                        </p:cNvPr>
                        <p:cNvPicPr>
                          <a:picLocks noChangeAspect="1"/>
                        </p:cNvPicPr>
                        <p:nvPr/>
                      </p:nvPicPr>
                      <p:blipFill rotWithShape="1">
                        <a:blip r:embed="rId9"/>
                        <a:srcRect l="10610" t="83240" r="43345" b="4164"/>
                        <a:stretch/>
                      </p:blipFill>
                      <p:spPr>
                        <a:xfrm>
                          <a:off x="21952217" y="17069480"/>
                          <a:ext cx="4496631" cy="381090"/>
                        </a:xfrm>
                        <a:prstGeom prst="rect">
                          <a:avLst/>
                        </a:prstGeom>
                      </p:spPr>
                    </p:pic>
                  </p:grpSp>
                  <p:sp>
                    <p:nvSpPr>
                      <p:cNvPr id="76" name="Textfeld 75">
                        <a:extLst>
                          <a:ext uri="{FF2B5EF4-FFF2-40B4-BE49-F238E27FC236}">
                            <a16:creationId xmlns:a16="http://schemas.microsoft.com/office/drawing/2014/main" id="{668AE58A-8D39-03F5-3862-008DAD8AC04F}"/>
                          </a:ext>
                        </a:extLst>
                      </p:cNvPr>
                      <p:cNvSpPr txBox="1"/>
                      <p:nvPr/>
                    </p:nvSpPr>
                    <p:spPr>
                      <a:xfrm rot="16200000">
                        <a:off x="19880577" y="15772384"/>
                        <a:ext cx="2820591" cy="338554"/>
                      </a:xfrm>
                      <a:prstGeom prst="rect">
                        <a:avLst/>
                      </a:prstGeom>
                      <a:noFill/>
                    </p:spPr>
                    <p:txBody>
                      <a:bodyPr wrap="square" rtlCol="0">
                        <a:spAutoFit/>
                      </a:bodyPr>
                      <a:lstStyle/>
                      <a:p>
                        <a:r>
                          <a:rPr lang="de-DE" sz="1600">
                            <a:latin typeface="Arial" panose="020B0604020202020204" pitchFamily="34" charset="0"/>
                            <a:cs typeface="Arial" panose="020B0604020202020204" pitchFamily="34" charset="0"/>
                          </a:rPr>
                          <a:t>Copy Number (log2 </a:t>
                        </a:r>
                        <a:r>
                          <a:rPr lang="de-DE" sz="1600" err="1">
                            <a:latin typeface="Arial" panose="020B0604020202020204" pitchFamily="34" charset="0"/>
                            <a:cs typeface="Arial" panose="020B0604020202020204" pitchFamily="34" charset="0"/>
                          </a:rPr>
                          <a:t>ratio</a:t>
                        </a:r>
                        <a:r>
                          <a:rPr lang="de-DE" sz="1600">
                            <a:latin typeface="Arial" panose="020B0604020202020204" pitchFamily="34" charset="0"/>
                            <a:cs typeface="Arial" panose="020B0604020202020204" pitchFamily="34" charset="0"/>
                          </a:rPr>
                          <a:t>)</a:t>
                        </a:r>
                        <a:endParaRPr lang="en-GB" sz="1600">
                          <a:latin typeface="Arial" panose="020B0604020202020204" pitchFamily="34" charset="0"/>
                          <a:cs typeface="Arial" panose="020B0604020202020204" pitchFamily="34" charset="0"/>
                        </a:endParaRPr>
                      </a:p>
                    </p:txBody>
                  </p:sp>
                  <p:sp>
                    <p:nvSpPr>
                      <p:cNvPr id="77" name="Textfeld 76">
                        <a:extLst>
                          <a:ext uri="{FF2B5EF4-FFF2-40B4-BE49-F238E27FC236}">
                            <a16:creationId xmlns:a16="http://schemas.microsoft.com/office/drawing/2014/main" id="{D1EC92FB-E3A9-C86D-CB29-F33380B45CF9}"/>
                          </a:ext>
                        </a:extLst>
                      </p:cNvPr>
                      <p:cNvSpPr txBox="1"/>
                      <p:nvPr/>
                    </p:nvSpPr>
                    <p:spPr>
                      <a:xfrm>
                        <a:off x="23509808" y="14634842"/>
                        <a:ext cx="5042980" cy="400110"/>
                      </a:xfrm>
                      <a:prstGeom prst="rect">
                        <a:avLst/>
                      </a:prstGeom>
                      <a:noFill/>
                    </p:spPr>
                    <p:txBody>
                      <a:bodyPr wrap="square" rtlCol="0">
                        <a:spAutoFit/>
                      </a:bodyPr>
                      <a:lstStyle/>
                      <a:p>
                        <a:r>
                          <a:rPr lang="de-DE" sz="2000"/>
                          <a:t>Tumour </a:t>
                        </a:r>
                        <a:r>
                          <a:rPr lang="de-DE" sz="2000" err="1"/>
                          <a:t>Fraction</a:t>
                        </a:r>
                        <a:r>
                          <a:rPr lang="de-DE" sz="2000"/>
                          <a:t>: 0.2403, </a:t>
                        </a:r>
                        <a:r>
                          <a:rPr lang="de-DE" sz="2000" err="1"/>
                          <a:t>Ploidy</a:t>
                        </a:r>
                        <a:r>
                          <a:rPr lang="de-DE" sz="2000"/>
                          <a:t>: 1.85</a:t>
                        </a:r>
                        <a:endParaRPr lang="en-GB" sz="2000"/>
                      </a:p>
                    </p:txBody>
                  </p:sp>
                  <p:sp>
                    <p:nvSpPr>
                      <p:cNvPr id="78" name="Textfeld 77">
                        <a:extLst>
                          <a:ext uri="{FF2B5EF4-FFF2-40B4-BE49-F238E27FC236}">
                            <a16:creationId xmlns:a16="http://schemas.microsoft.com/office/drawing/2014/main" id="{669A3DC4-8827-EED8-B9A5-61EB93DFB8C0}"/>
                          </a:ext>
                        </a:extLst>
                      </p:cNvPr>
                      <p:cNvSpPr txBox="1"/>
                      <p:nvPr/>
                    </p:nvSpPr>
                    <p:spPr>
                      <a:xfrm>
                        <a:off x="21152062" y="17489349"/>
                        <a:ext cx="487976" cy="461665"/>
                      </a:xfrm>
                      <a:prstGeom prst="rect">
                        <a:avLst/>
                      </a:prstGeom>
                      <a:noFill/>
                    </p:spPr>
                    <p:txBody>
                      <a:bodyPr wrap="square" rtlCol="0">
                        <a:spAutoFit/>
                      </a:bodyPr>
                      <a:lstStyle/>
                      <a:p>
                        <a:r>
                          <a:rPr lang="de-DE" sz="2400" b="1"/>
                          <a:t>B</a:t>
                        </a:r>
                        <a:endParaRPr lang="en-GB" sz="2400" b="1"/>
                      </a:p>
                    </p:txBody>
                  </p:sp>
                </p:grpSp>
              </p:grpSp>
              <p:sp>
                <p:nvSpPr>
                  <p:cNvPr id="72" name="Textfeld 71">
                    <a:extLst>
                      <a:ext uri="{FF2B5EF4-FFF2-40B4-BE49-F238E27FC236}">
                        <a16:creationId xmlns:a16="http://schemas.microsoft.com/office/drawing/2014/main" id="{9A995B31-A9F2-F5CF-A92F-A586837F6515}"/>
                      </a:ext>
                    </a:extLst>
                  </p:cNvPr>
                  <p:cNvSpPr txBox="1"/>
                  <p:nvPr/>
                </p:nvSpPr>
                <p:spPr>
                  <a:xfrm rot="16200000">
                    <a:off x="20322073" y="18702559"/>
                    <a:ext cx="1977753" cy="338554"/>
                  </a:xfrm>
                  <a:prstGeom prst="rect">
                    <a:avLst/>
                  </a:prstGeom>
                  <a:solidFill>
                    <a:schemeClr val="bg1"/>
                  </a:solidFill>
                </p:spPr>
                <p:txBody>
                  <a:bodyPr wrap="square" rtlCol="0">
                    <a:spAutoFit/>
                  </a:bodyPr>
                  <a:lstStyle/>
                  <a:p>
                    <a:r>
                      <a:rPr lang="de-DE" sz="1600">
                        <a:latin typeface="Arial" panose="020B0604020202020204" pitchFamily="34" charset="0"/>
                        <a:cs typeface="Arial" panose="020B0604020202020204" pitchFamily="34" charset="0"/>
                      </a:rPr>
                      <a:t>Tumour </a:t>
                    </a:r>
                    <a:r>
                      <a:rPr lang="de-DE" sz="1600" err="1">
                        <a:latin typeface="Arial" panose="020B0604020202020204" pitchFamily="34" charset="0"/>
                        <a:cs typeface="Arial" panose="020B0604020202020204" pitchFamily="34" charset="0"/>
                      </a:rPr>
                      <a:t>Fraction</a:t>
                    </a:r>
                    <a:endParaRPr lang="en-GB" sz="1600">
                      <a:latin typeface="Arial" panose="020B0604020202020204" pitchFamily="34" charset="0"/>
                      <a:cs typeface="Arial" panose="020B0604020202020204" pitchFamily="34" charset="0"/>
                    </a:endParaRPr>
                  </a:p>
                </p:txBody>
              </p:sp>
            </p:grpSp>
          </p:grpSp>
        </p:grpSp>
        <p:sp>
          <p:nvSpPr>
            <p:cNvPr id="83" name="Textfeld 82">
              <a:extLst>
                <a:ext uri="{FF2B5EF4-FFF2-40B4-BE49-F238E27FC236}">
                  <a16:creationId xmlns:a16="http://schemas.microsoft.com/office/drawing/2014/main" id="{B4E6EEAC-6775-D86C-C55D-F708B166B2DF}"/>
                </a:ext>
              </a:extLst>
            </p:cNvPr>
            <p:cNvSpPr txBox="1"/>
            <p:nvPr/>
          </p:nvSpPr>
          <p:spPr>
            <a:xfrm>
              <a:off x="12077934" y="14577043"/>
              <a:ext cx="9287505" cy="523220"/>
            </a:xfrm>
            <a:prstGeom prst="rect">
              <a:avLst/>
            </a:prstGeom>
            <a:noFill/>
          </p:spPr>
          <p:txBody>
            <a:bodyPr wrap="square" rtlCol="0">
              <a:spAutoFit/>
            </a:bodyPr>
            <a:lstStyle/>
            <a:p>
              <a:r>
                <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CNAs and </a:t>
              </a:r>
              <a:r>
                <a:rPr lang="de-DE" sz="2800" b="1" err="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higher</a:t>
              </a:r>
              <a:r>
                <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 tumour </a:t>
              </a:r>
              <a:r>
                <a:rPr lang="de-DE" sz="2800" b="1" err="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fractions</a:t>
              </a:r>
              <a:r>
                <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 </a:t>
              </a:r>
            </a:p>
          </p:txBody>
        </p:sp>
      </p:grpSp>
      <p:sp>
        <p:nvSpPr>
          <p:cNvPr id="84" name="Textfeld 83">
            <a:extLst>
              <a:ext uri="{FF2B5EF4-FFF2-40B4-BE49-F238E27FC236}">
                <a16:creationId xmlns:a16="http://schemas.microsoft.com/office/drawing/2014/main" id="{CD64FDD9-E325-BE3A-021E-7F945D6B2E3C}"/>
              </a:ext>
            </a:extLst>
          </p:cNvPr>
          <p:cNvSpPr txBox="1"/>
          <p:nvPr/>
        </p:nvSpPr>
        <p:spPr>
          <a:xfrm>
            <a:off x="23087464" y="7460514"/>
            <a:ext cx="8903168" cy="523220"/>
          </a:xfrm>
          <a:prstGeom prst="rect">
            <a:avLst/>
          </a:prstGeom>
          <a:noFill/>
        </p:spPr>
        <p:txBody>
          <a:bodyPr wrap="square" rtlCol="0">
            <a:spAutoFit/>
          </a:bodyPr>
          <a:lstStyle/>
          <a:p>
            <a:r>
              <a:rPr lang="de-DE" sz="2800" b="1" err="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Important</a:t>
            </a:r>
            <a:r>
              <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 </a:t>
            </a:r>
            <a:r>
              <a:rPr lang="de-DE" sz="2800" b="1" err="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features</a:t>
            </a:r>
            <a:r>
              <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 </a:t>
            </a:r>
            <a:r>
              <a:rPr lang="de-DE" sz="2800" b="1" err="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of</a:t>
            </a:r>
            <a:r>
              <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 </a:t>
            </a:r>
            <a:r>
              <a:rPr lang="de-DE" sz="2800" b="1" err="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the</a:t>
            </a:r>
            <a:r>
              <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 </a:t>
            </a:r>
            <a:r>
              <a:rPr lang="de-DE" sz="2800" b="1" err="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fragment</a:t>
            </a:r>
            <a:r>
              <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 </a:t>
            </a:r>
            <a:r>
              <a:rPr lang="de-DE" sz="2800" b="1" err="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length</a:t>
            </a:r>
            <a:r>
              <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 </a:t>
            </a:r>
            <a:r>
              <a:rPr lang="de-DE" sz="2800" b="1" err="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distribution</a:t>
            </a:r>
            <a:endPar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endParaRPr>
          </a:p>
        </p:txBody>
      </p:sp>
      <p:grpSp>
        <p:nvGrpSpPr>
          <p:cNvPr id="93" name="Gruppieren 92">
            <a:extLst>
              <a:ext uri="{FF2B5EF4-FFF2-40B4-BE49-F238E27FC236}">
                <a16:creationId xmlns:a16="http://schemas.microsoft.com/office/drawing/2014/main" id="{50396B20-C4ED-ABD6-2E32-329CEE701723}"/>
              </a:ext>
            </a:extLst>
          </p:cNvPr>
          <p:cNvGrpSpPr/>
          <p:nvPr/>
        </p:nvGrpSpPr>
        <p:grpSpPr>
          <a:xfrm>
            <a:off x="12064756" y="7997938"/>
            <a:ext cx="9642427" cy="6388884"/>
            <a:chOff x="12064756" y="7997938"/>
            <a:chExt cx="9642427" cy="6388884"/>
          </a:xfrm>
        </p:grpSpPr>
        <p:grpSp>
          <p:nvGrpSpPr>
            <p:cNvPr id="14" name="Gruppieren 13">
              <a:extLst>
                <a:ext uri="{FF2B5EF4-FFF2-40B4-BE49-F238E27FC236}">
                  <a16:creationId xmlns:a16="http://schemas.microsoft.com/office/drawing/2014/main" id="{41D401B6-3639-9EBE-0416-7EC9A6C9F005}"/>
                </a:ext>
              </a:extLst>
            </p:cNvPr>
            <p:cNvGrpSpPr/>
            <p:nvPr/>
          </p:nvGrpSpPr>
          <p:grpSpPr>
            <a:xfrm>
              <a:off x="12065078" y="8496748"/>
              <a:ext cx="9030487" cy="5890074"/>
              <a:chOff x="12071594" y="8148273"/>
              <a:chExt cx="9030487" cy="5890074"/>
            </a:xfrm>
          </p:grpSpPr>
          <p:sp>
            <p:nvSpPr>
              <p:cNvPr id="69" name="TextBox 91">
                <a:extLst>
                  <a:ext uri="{FF2B5EF4-FFF2-40B4-BE49-F238E27FC236}">
                    <a16:creationId xmlns:a16="http://schemas.microsoft.com/office/drawing/2014/main" id="{3CB4BDB3-85B5-2099-5DB6-B72C2159199A}"/>
                  </a:ext>
                </a:extLst>
              </p:cNvPr>
              <p:cNvSpPr txBox="1"/>
              <p:nvPr/>
            </p:nvSpPr>
            <p:spPr>
              <a:xfrm>
                <a:off x="12071594" y="12838018"/>
                <a:ext cx="9000000" cy="1200329"/>
              </a:xfrm>
              <a:prstGeom prst="rect">
                <a:avLst/>
              </a:prstGeom>
              <a:noFill/>
              <a:ln>
                <a:noFill/>
              </a:ln>
            </p:spPr>
            <p:txBody>
              <a:bodyPr wrap="square" rtlCol="0">
                <a:spAutoFit/>
              </a:bodyPr>
              <a:lstStyle>
                <a:defPPr>
                  <a:defRPr kern="1200"/>
                </a:defPPr>
              </a:lstStyle>
              <a:p>
                <a:pPr algn="just"/>
                <a:r>
                  <a:rPr lang="en-US" sz="2400" b="1"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Fig. 2:  Percentage of fragments &lt;150 bp per diagnosis</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t>
                </a:r>
                <a:r>
                  <a:rPr lang="en-US" sz="2400" dirty="0" err="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cfDNA</a:t>
                </a:r>
                <a:r>
                  <a:rPr lang="en-US" sz="2400" dirty="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fragments of cancer samples display higher percentage of short fragments compared to healthy samples. </a:t>
                </a:r>
              </a:p>
            </p:txBody>
          </p:sp>
          <p:pic>
            <p:nvPicPr>
              <p:cNvPr id="9" name="Grafik 8">
                <a:extLst>
                  <a:ext uri="{FF2B5EF4-FFF2-40B4-BE49-F238E27FC236}">
                    <a16:creationId xmlns:a16="http://schemas.microsoft.com/office/drawing/2014/main" id="{6253AD4A-5611-4FCB-D17C-EE3B973D1843}"/>
                  </a:ext>
                </a:extLst>
              </p:cNvPr>
              <p:cNvPicPr>
                <a:picLocks noChangeAspect="1"/>
              </p:cNvPicPr>
              <p:nvPr/>
            </p:nvPicPr>
            <p:blipFill rotWithShape="1">
              <a:blip r:embed="rId10">
                <a:extLst>
                  <a:ext uri="{28A0092B-C50C-407E-A947-70E740481C1C}">
                    <a14:useLocalDpi xmlns:a14="http://schemas.microsoft.com/office/drawing/2010/main" val="0"/>
                  </a:ext>
                </a:extLst>
              </a:blip>
              <a:srcRect l="4265" t="13236" r="8488" b="5202"/>
              <a:stretch/>
            </p:blipFill>
            <p:spPr>
              <a:xfrm>
                <a:off x="12102081" y="8148273"/>
                <a:ext cx="9000000" cy="4711624"/>
              </a:xfrm>
              <a:prstGeom prst="rect">
                <a:avLst/>
              </a:prstGeom>
            </p:spPr>
          </p:pic>
        </p:grpSp>
        <p:sp>
          <p:nvSpPr>
            <p:cNvPr id="89" name="Textfeld 88">
              <a:extLst>
                <a:ext uri="{FF2B5EF4-FFF2-40B4-BE49-F238E27FC236}">
                  <a16:creationId xmlns:a16="http://schemas.microsoft.com/office/drawing/2014/main" id="{8BDA29FA-DAB5-456F-A4EC-E6970483ED64}"/>
                </a:ext>
              </a:extLst>
            </p:cNvPr>
            <p:cNvSpPr txBox="1"/>
            <p:nvPr/>
          </p:nvSpPr>
          <p:spPr>
            <a:xfrm>
              <a:off x="12064756" y="7997938"/>
              <a:ext cx="9642427" cy="523220"/>
            </a:xfrm>
            <a:prstGeom prst="rect">
              <a:avLst/>
            </a:prstGeom>
            <a:noFill/>
          </p:spPr>
          <p:txBody>
            <a:bodyPr wrap="square" rtlCol="0">
              <a:spAutoFit/>
            </a:bodyPr>
            <a:lstStyle/>
            <a:p>
              <a:r>
                <a:rPr lang="de-DE" sz="2800" b="1" err="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Increased</a:t>
              </a:r>
              <a:r>
                <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 </a:t>
              </a:r>
              <a:r>
                <a:rPr lang="de-DE" sz="2800" b="1" err="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amount</a:t>
              </a:r>
              <a:r>
                <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 </a:t>
              </a:r>
              <a:r>
                <a:rPr lang="de-DE" sz="2800" b="1" err="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of</a:t>
              </a:r>
              <a:r>
                <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 </a:t>
              </a:r>
              <a:r>
                <a:rPr lang="de-DE" sz="2800" b="1" err="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shorter</a:t>
              </a:r>
              <a:r>
                <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 </a:t>
              </a:r>
              <a:r>
                <a:rPr lang="de-DE" sz="2800" b="1" err="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fragments</a:t>
              </a:r>
              <a:endPar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endParaRPr>
            </a:p>
          </p:txBody>
        </p:sp>
      </p:grpSp>
      <p:grpSp>
        <p:nvGrpSpPr>
          <p:cNvPr id="52" name="Gruppieren 51">
            <a:extLst>
              <a:ext uri="{FF2B5EF4-FFF2-40B4-BE49-F238E27FC236}">
                <a16:creationId xmlns:a16="http://schemas.microsoft.com/office/drawing/2014/main" id="{620D22B0-2955-255C-3DB7-5C2D9266ED80}"/>
              </a:ext>
            </a:extLst>
          </p:cNvPr>
          <p:cNvGrpSpPr/>
          <p:nvPr/>
        </p:nvGrpSpPr>
        <p:grpSpPr>
          <a:xfrm>
            <a:off x="33986140" y="8517009"/>
            <a:ext cx="7156875" cy="8326388"/>
            <a:chOff x="33995484" y="6163551"/>
            <a:chExt cx="7156875" cy="8326388"/>
          </a:xfrm>
        </p:grpSpPr>
        <p:sp>
          <p:nvSpPr>
            <p:cNvPr id="6" name="TextBox 91">
              <a:extLst>
                <a:ext uri="{FF2B5EF4-FFF2-40B4-BE49-F238E27FC236}">
                  <a16:creationId xmlns:a16="http://schemas.microsoft.com/office/drawing/2014/main" id="{5D0D2165-2A81-FD0D-BB4E-1F7348DEF6F5}"/>
                </a:ext>
              </a:extLst>
            </p:cNvPr>
            <p:cNvSpPr txBox="1"/>
            <p:nvPr/>
          </p:nvSpPr>
          <p:spPr>
            <a:xfrm>
              <a:off x="33995484" y="12920279"/>
              <a:ext cx="7156875" cy="1569660"/>
            </a:xfrm>
            <a:prstGeom prst="rect">
              <a:avLst/>
            </a:prstGeom>
            <a:noFill/>
          </p:spPr>
          <p:txBody>
            <a:bodyPr wrap="square" rtlCol="0">
              <a:spAutoFit/>
            </a:bodyPr>
            <a:lstStyle>
              <a:defPPr>
                <a:defRPr kern="1200"/>
              </a:defPPr>
            </a:lstStyle>
            <a:p>
              <a:pPr algn="just"/>
              <a:r>
                <a:rPr lang="en-US" sz="2400" b="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Fig. 8: F1 scores obtained by final model. </a:t>
              </a:r>
              <a:r>
                <a:rPr lang="en-US" sz="240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Logistic regression on previously unseen test data, with post-hoc computation of performance score for each type of cancer. </a:t>
              </a:r>
            </a:p>
          </p:txBody>
        </p:sp>
        <p:grpSp>
          <p:nvGrpSpPr>
            <p:cNvPr id="30" name="Gruppieren 29">
              <a:extLst>
                <a:ext uri="{FF2B5EF4-FFF2-40B4-BE49-F238E27FC236}">
                  <a16:creationId xmlns:a16="http://schemas.microsoft.com/office/drawing/2014/main" id="{AE0342DD-DB11-EA14-0ACA-3B1597537D6E}"/>
                </a:ext>
              </a:extLst>
            </p:cNvPr>
            <p:cNvGrpSpPr/>
            <p:nvPr/>
          </p:nvGrpSpPr>
          <p:grpSpPr>
            <a:xfrm>
              <a:off x="33995484" y="6163551"/>
              <a:ext cx="7036771" cy="6710867"/>
              <a:chOff x="12593347" y="21843999"/>
              <a:chExt cx="7036771" cy="6710867"/>
            </a:xfrm>
          </p:grpSpPr>
          <p:grpSp>
            <p:nvGrpSpPr>
              <p:cNvPr id="35" name="Gruppieren 34">
                <a:extLst>
                  <a:ext uri="{FF2B5EF4-FFF2-40B4-BE49-F238E27FC236}">
                    <a16:creationId xmlns:a16="http://schemas.microsoft.com/office/drawing/2014/main" id="{EEECA305-9116-D443-62A4-2D7BF2B48436}"/>
                  </a:ext>
                </a:extLst>
              </p:cNvPr>
              <p:cNvGrpSpPr/>
              <p:nvPr/>
            </p:nvGrpSpPr>
            <p:grpSpPr>
              <a:xfrm>
                <a:off x="12593347" y="21843999"/>
                <a:ext cx="7036771" cy="6710867"/>
                <a:chOff x="12593347" y="21843999"/>
                <a:chExt cx="7036771" cy="6710867"/>
              </a:xfrm>
            </p:grpSpPr>
            <p:sp>
              <p:nvSpPr>
                <p:cNvPr id="44" name="Rechteck 43">
                  <a:extLst>
                    <a:ext uri="{FF2B5EF4-FFF2-40B4-BE49-F238E27FC236}">
                      <a16:creationId xmlns:a16="http://schemas.microsoft.com/office/drawing/2014/main" id="{06B54007-FFBC-E12E-4D0B-11641C495C11}"/>
                    </a:ext>
                  </a:extLst>
                </p:cNvPr>
                <p:cNvSpPr/>
                <p:nvPr/>
              </p:nvSpPr>
              <p:spPr>
                <a:xfrm>
                  <a:off x="12593347" y="21843999"/>
                  <a:ext cx="7036771" cy="67108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Textfeld 44">
                  <a:extLst>
                    <a:ext uri="{FF2B5EF4-FFF2-40B4-BE49-F238E27FC236}">
                      <a16:creationId xmlns:a16="http://schemas.microsoft.com/office/drawing/2014/main" id="{C5375B78-9C78-7852-7D4E-83AF2554A89C}"/>
                    </a:ext>
                  </a:extLst>
                </p:cNvPr>
                <p:cNvSpPr txBox="1"/>
                <p:nvPr/>
              </p:nvSpPr>
              <p:spPr>
                <a:xfrm rot="16200000">
                  <a:off x="11752721" y="24616119"/>
                  <a:ext cx="2071513" cy="369332"/>
                </a:xfrm>
                <a:prstGeom prst="rect">
                  <a:avLst/>
                </a:prstGeom>
                <a:solidFill>
                  <a:schemeClr val="bg1"/>
                </a:solidFill>
              </p:spPr>
              <p:txBody>
                <a:bodyPr wrap="square" rtlCol="0">
                  <a:spAutoFit/>
                </a:bodyPr>
                <a:lstStyle/>
                <a:p>
                  <a:r>
                    <a:rPr lang="de-DE"/>
                    <a:t>F1 Score</a:t>
                  </a:r>
                  <a:endParaRPr lang="en-GB"/>
                </a:p>
              </p:txBody>
            </p:sp>
          </p:grpSp>
          <p:pic>
            <p:nvPicPr>
              <p:cNvPr id="40" name="Grafik 39">
                <a:extLst>
                  <a:ext uri="{FF2B5EF4-FFF2-40B4-BE49-F238E27FC236}">
                    <a16:creationId xmlns:a16="http://schemas.microsoft.com/office/drawing/2014/main" id="{5AFA0D49-ACB8-AB93-E714-CBEB73543322}"/>
                  </a:ext>
                </a:extLst>
              </p:cNvPr>
              <p:cNvPicPr>
                <a:picLocks noChangeAspect="1"/>
              </p:cNvPicPr>
              <p:nvPr/>
            </p:nvPicPr>
            <p:blipFill rotWithShape="1">
              <a:blip r:embed="rId11">
                <a:extLst>
                  <a:ext uri="{28A0092B-C50C-407E-A947-70E740481C1C}">
                    <a14:useLocalDpi xmlns:a14="http://schemas.microsoft.com/office/drawing/2010/main" val="0"/>
                  </a:ext>
                </a:extLst>
              </a:blip>
              <a:srcRect l="8553" t="8731" r="9862" b="6131"/>
              <a:stretch/>
            </p:blipFill>
            <p:spPr>
              <a:xfrm>
                <a:off x="12983608" y="21843999"/>
                <a:ext cx="6430978" cy="6710867"/>
              </a:xfrm>
              <a:prstGeom prst="rect">
                <a:avLst/>
              </a:prstGeom>
            </p:spPr>
          </p:pic>
        </p:grpSp>
      </p:grpSp>
      <p:sp>
        <p:nvSpPr>
          <p:cNvPr id="97" name="Textfeld 96">
            <a:extLst>
              <a:ext uri="{FF2B5EF4-FFF2-40B4-BE49-F238E27FC236}">
                <a16:creationId xmlns:a16="http://schemas.microsoft.com/office/drawing/2014/main" id="{2E794D28-FF52-C93F-08EA-14CFD4736A42}"/>
              </a:ext>
            </a:extLst>
          </p:cNvPr>
          <p:cNvSpPr txBox="1"/>
          <p:nvPr/>
        </p:nvSpPr>
        <p:spPr>
          <a:xfrm>
            <a:off x="33552894" y="7983734"/>
            <a:ext cx="8903168" cy="523220"/>
          </a:xfrm>
          <a:prstGeom prst="rect">
            <a:avLst/>
          </a:prstGeom>
          <a:noFill/>
        </p:spPr>
        <p:txBody>
          <a:bodyPr wrap="square" rtlCol="0">
            <a:spAutoFit/>
          </a:bodyPr>
          <a:lstStyle/>
          <a:p>
            <a:r>
              <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Final </a:t>
            </a:r>
            <a:r>
              <a:rPr lang="de-DE" sz="2800" b="1" err="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model</a:t>
            </a:r>
            <a:r>
              <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 only </a:t>
            </a:r>
            <a:r>
              <a:rPr lang="de-DE" sz="2800" b="1" err="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uses</a:t>
            </a:r>
            <a:r>
              <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 </a:t>
            </a:r>
            <a:r>
              <a:rPr lang="de-DE" sz="2800" b="1" err="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fragment</a:t>
            </a:r>
            <a:r>
              <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 </a:t>
            </a:r>
            <a:r>
              <a:rPr lang="de-DE" sz="2800" b="1" err="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length</a:t>
            </a:r>
            <a:r>
              <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 </a:t>
            </a:r>
            <a:r>
              <a:rPr lang="de-DE" sz="2800" b="1" err="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features</a:t>
            </a:r>
            <a:endPar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endParaRPr>
          </a:p>
        </p:txBody>
      </p:sp>
      <p:sp>
        <p:nvSpPr>
          <p:cNvPr id="99" name="Textfeld 98">
            <a:extLst>
              <a:ext uri="{FF2B5EF4-FFF2-40B4-BE49-F238E27FC236}">
                <a16:creationId xmlns:a16="http://schemas.microsoft.com/office/drawing/2014/main" id="{C4B3953D-7EBC-8EF7-EE82-CA561DE21FC5}"/>
              </a:ext>
            </a:extLst>
          </p:cNvPr>
          <p:cNvSpPr txBox="1"/>
          <p:nvPr/>
        </p:nvSpPr>
        <p:spPr>
          <a:xfrm>
            <a:off x="1328261" y="25843215"/>
            <a:ext cx="9000000" cy="3293209"/>
          </a:xfrm>
          <a:prstGeom prst="rect">
            <a:avLst/>
          </a:prstGeom>
          <a:noFill/>
        </p:spPr>
        <p:txBody>
          <a:bodyPr wrap="square" rtlCol="0">
            <a:spAutoFit/>
          </a:bodyPr>
          <a:lstStyle/>
          <a:p>
            <a:pPr algn="just"/>
            <a:r>
              <a:rPr lang="de-DE" sz="2600">
                <a:latin typeface="Domine" panose="02040503040403060204"/>
                <a:ea typeface="Open Sans" panose="020B0606030504020204" pitchFamily="34" charset="0"/>
                <a:cs typeface="Open Sans" panose="020B0606030504020204" pitchFamily="34" charset="0"/>
              </a:rPr>
              <a:t>First, </a:t>
            </a:r>
            <a:r>
              <a:rPr lang="de-DE" sz="2600" err="1">
                <a:latin typeface="Domine" panose="02040503040403060204"/>
                <a:ea typeface="Open Sans" panose="020B0606030504020204" pitchFamily="34" charset="0"/>
                <a:cs typeface="Open Sans" panose="020B0606030504020204" pitchFamily="34" charset="0"/>
              </a:rPr>
              <a:t>the</a:t>
            </a:r>
            <a:r>
              <a:rPr lang="de-DE" sz="2600">
                <a:latin typeface="Domine" panose="02040503040403060204"/>
                <a:ea typeface="Open Sans" panose="020B0606030504020204" pitchFamily="34" charset="0"/>
                <a:cs typeface="Open Sans" panose="020B0606030504020204" pitchFamily="34" charset="0"/>
              </a:rPr>
              <a:t> </a:t>
            </a:r>
            <a:r>
              <a:rPr lang="de-DE" sz="2600" err="1">
                <a:latin typeface="Domine" panose="02040503040403060204"/>
                <a:ea typeface="Open Sans" panose="020B0606030504020204" pitchFamily="34" charset="0"/>
                <a:cs typeface="Open Sans" panose="020B0606030504020204" pitchFamily="34" charset="0"/>
              </a:rPr>
              <a:t>data</a:t>
            </a:r>
            <a:r>
              <a:rPr lang="de-DE" sz="2600">
                <a:latin typeface="Domine" panose="02040503040403060204"/>
                <a:ea typeface="Open Sans" panose="020B0606030504020204" pitchFamily="34" charset="0"/>
                <a:cs typeface="Open Sans" panose="020B0606030504020204" pitchFamily="34" charset="0"/>
              </a:rPr>
              <a:t> was </a:t>
            </a:r>
            <a:r>
              <a:rPr lang="de-DE" sz="2600" err="1">
                <a:latin typeface="Domine" panose="02040503040403060204"/>
                <a:ea typeface="Open Sans" panose="020B0606030504020204" pitchFamily="34" charset="0"/>
                <a:cs typeface="Open Sans" panose="020B0606030504020204" pitchFamily="34" charset="0"/>
              </a:rPr>
              <a:t>explored</a:t>
            </a:r>
            <a:r>
              <a:rPr lang="de-DE" sz="2600">
                <a:latin typeface="Domine" panose="02040503040403060204"/>
                <a:ea typeface="Open Sans" panose="020B0606030504020204" pitchFamily="34" charset="0"/>
                <a:cs typeface="Open Sans" panose="020B0606030504020204" pitchFamily="34" charset="0"/>
              </a:rPr>
              <a:t> in a </a:t>
            </a:r>
            <a:r>
              <a:rPr lang="de-DE" sz="2600" err="1">
                <a:latin typeface="Domine" panose="02040503040403060204"/>
                <a:ea typeface="Open Sans" panose="020B0606030504020204" pitchFamily="34" charset="0"/>
                <a:cs typeface="Open Sans" panose="020B0606030504020204" pitchFamily="34" charset="0"/>
              </a:rPr>
              <a:t>bioinformatic</a:t>
            </a:r>
            <a:r>
              <a:rPr lang="de-DE" sz="2600">
                <a:latin typeface="Domine" panose="02040503040403060204"/>
                <a:ea typeface="Open Sans" panose="020B0606030504020204" pitchFamily="34" charset="0"/>
                <a:cs typeface="Open Sans" panose="020B0606030504020204" pitchFamily="34" charset="0"/>
              </a:rPr>
              <a:t> </a:t>
            </a:r>
            <a:r>
              <a:rPr lang="de-DE" sz="2600" err="1">
                <a:latin typeface="Domine" panose="02040503040403060204"/>
                <a:ea typeface="Open Sans" panose="020B0606030504020204" pitchFamily="34" charset="0"/>
                <a:cs typeface="Open Sans" panose="020B0606030504020204" pitchFamily="34" charset="0"/>
              </a:rPr>
              <a:t>analysis</a:t>
            </a:r>
            <a:r>
              <a:rPr lang="de-DE" sz="2600">
                <a:latin typeface="Domine" panose="02040503040403060204"/>
                <a:ea typeface="Open Sans" panose="020B0606030504020204" pitchFamily="34" charset="0"/>
                <a:cs typeface="Open Sans" panose="020B0606030504020204" pitchFamily="34" charset="0"/>
              </a:rPr>
              <a:t> </a:t>
            </a:r>
            <a:r>
              <a:rPr lang="de-DE" sz="2600" err="1">
                <a:latin typeface="Domine" panose="02040503040403060204"/>
                <a:ea typeface="Open Sans" panose="020B0606030504020204" pitchFamily="34" charset="0"/>
                <a:cs typeface="Open Sans" panose="020B0606030504020204" pitchFamily="34" charset="0"/>
              </a:rPr>
              <a:t>involving</a:t>
            </a:r>
            <a:r>
              <a:rPr lang="de-DE" sz="2600">
                <a:latin typeface="Domine" panose="02040503040403060204"/>
                <a:ea typeface="Open Sans" panose="020B0606030504020204" pitchFamily="34" charset="0"/>
                <a:cs typeface="Open Sans" panose="020B0606030504020204" pitchFamily="34" charset="0"/>
              </a:rPr>
              <a:t> </a:t>
            </a:r>
            <a:r>
              <a:rPr lang="de-DE" sz="2600" err="1">
                <a:latin typeface="Domine" panose="02040503040403060204"/>
                <a:ea typeface="Open Sans" panose="020B0606030504020204" pitchFamily="34" charset="0"/>
                <a:cs typeface="Open Sans" panose="020B0606030504020204" pitchFamily="34" charset="0"/>
              </a:rPr>
              <a:t>visualizing</a:t>
            </a:r>
            <a:r>
              <a:rPr lang="en-GB" sz="2600" b="0" i="0">
                <a:effectLst/>
                <a:latin typeface="Domine" panose="02040503040403060204"/>
              </a:rPr>
              <a:t> fragment length  distributions</a:t>
            </a:r>
            <a:r>
              <a:rPr lang="en-GB" sz="2600">
                <a:latin typeface="Domine" panose="02040503040403060204"/>
              </a:rPr>
              <a:t>, detection of somatic CNA (ichorCNA</a:t>
            </a:r>
            <a:r>
              <a:rPr lang="en-GB" sz="2600" baseline="30000">
                <a:latin typeface="Domine" panose="02040503040403060204"/>
              </a:rPr>
              <a:t>3</a:t>
            </a:r>
            <a:r>
              <a:rPr lang="en-GB" sz="2600">
                <a:latin typeface="Domine" panose="02040503040403060204"/>
              </a:rPr>
              <a:t>) and determination of nucleosome footprints (LIQUORICE</a:t>
            </a:r>
            <a:r>
              <a:rPr lang="en-GB" sz="2600" baseline="30000">
                <a:latin typeface="Domine" panose="02040503040403060204"/>
              </a:rPr>
              <a:t>4</a:t>
            </a:r>
            <a:r>
              <a:rPr lang="en-GB" sz="2600">
                <a:latin typeface="Domine" panose="02040503040403060204"/>
              </a:rPr>
              <a:t>). The resulting feature matrix was then fed into different machine learning models. Cross validation (CV) was used to find the best performing model and to filter for the most important features (sklearn</a:t>
            </a:r>
            <a:r>
              <a:rPr lang="en-GB" sz="2600" baseline="30000">
                <a:latin typeface="Domine" panose="02040503040403060204"/>
              </a:rPr>
              <a:t>5</a:t>
            </a:r>
            <a:r>
              <a:rPr lang="en-GB" sz="2600" dirty="0">
                <a:latin typeface="Domine" panose="02040503040403060204"/>
              </a:rPr>
              <a:t>) to solve </a:t>
            </a:r>
            <a:r>
              <a:rPr lang="en-GB" sz="2600">
                <a:latin typeface="Domine" panose="02040503040403060204"/>
              </a:rPr>
              <a:t>the binary classification problem.</a:t>
            </a:r>
            <a:endParaRPr lang="en-GB" sz="2600"/>
          </a:p>
        </p:txBody>
      </p:sp>
      <p:grpSp>
        <p:nvGrpSpPr>
          <p:cNvPr id="101" name="Gruppieren 100">
            <a:extLst>
              <a:ext uri="{FF2B5EF4-FFF2-40B4-BE49-F238E27FC236}">
                <a16:creationId xmlns:a16="http://schemas.microsoft.com/office/drawing/2014/main" id="{75C3A425-96E5-3159-B412-7337C2113D55}"/>
              </a:ext>
            </a:extLst>
          </p:cNvPr>
          <p:cNvGrpSpPr/>
          <p:nvPr/>
        </p:nvGrpSpPr>
        <p:grpSpPr>
          <a:xfrm>
            <a:off x="23087166" y="22644003"/>
            <a:ext cx="9287505" cy="6461530"/>
            <a:chOff x="22942518" y="22735069"/>
            <a:chExt cx="9287505" cy="6461530"/>
          </a:xfrm>
        </p:grpSpPr>
        <p:grpSp>
          <p:nvGrpSpPr>
            <p:cNvPr id="95" name="Gruppieren 94">
              <a:extLst>
                <a:ext uri="{FF2B5EF4-FFF2-40B4-BE49-F238E27FC236}">
                  <a16:creationId xmlns:a16="http://schemas.microsoft.com/office/drawing/2014/main" id="{AEE2D670-C8C3-5A62-13FD-48D099CE90AD}"/>
                </a:ext>
              </a:extLst>
            </p:cNvPr>
            <p:cNvGrpSpPr/>
            <p:nvPr/>
          </p:nvGrpSpPr>
          <p:grpSpPr>
            <a:xfrm>
              <a:off x="22942518" y="22735069"/>
              <a:ext cx="9287505" cy="6461530"/>
              <a:chOff x="22942518" y="22735069"/>
              <a:chExt cx="9287505" cy="6461530"/>
            </a:xfrm>
          </p:grpSpPr>
          <p:sp>
            <p:nvSpPr>
              <p:cNvPr id="70" name="TextBox 91">
                <a:extLst>
                  <a:ext uri="{FF2B5EF4-FFF2-40B4-BE49-F238E27FC236}">
                    <a16:creationId xmlns:a16="http://schemas.microsoft.com/office/drawing/2014/main" id="{E6DAECF7-F608-C889-F4FE-FE11AD8CD656}"/>
                  </a:ext>
                </a:extLst>
              </p:cNvPr>
              <p:cNvSpPr txBox="1"/>
              <p:nvPr/>
            </p:nvSpPr>
            <p:spPr>
              <a:xfrm>
                <a:off x="22954323" y="27626939"/>
                <a:ext cx="9000000" cy="1569660"/>
              </a:xfrm>
              <a:prstGeom prst="rect">
                <a:avLst/>
              </a:prstGeom>
              <a:noFill/>
            </p:spPr>
            <p:txBody>
              <a:bodyPr wrap="square" rtlCol="0">
                <a:spAutoFit/>
              </a:bodyPr>
              <a:lstStyle>
                <a:defPPr>
                  <a:defRPr kern="1200"/>
                </a:defPPr>
              </a:lstStyle>
              <a:p>
                <a:pPr algn="just"/>
                <a:r>
                  <a:rPr lang="en-US" sz="2400" b="1">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Fig. 7: F1 score values of logistic regression against C value to avoid overfitting</a:t>
                </a:r>
                <a:r>
                  <a:rPr lang="en-US" sz="240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The F1 score drops with increasing C value. The best C being 0.17 is found by determining optimal trade-off between |</a:t>
                </a:r>
                <a:r>
                  <a:rPr lang="en-US" sz="2400">
                    <a:solidFill>
                      <a:schemeClr val="tx1">
                        <a:lumMod val="65000"/>
                        <a:lumOff val="35000"/>
                      </a:schemeClr>
                    </a:solidFill>
                    <a:latin typeface="Calibri" panose="020F0502020204030204" pitchFamily="34" charset="0"/>
                    <a:ea typeface="Open Sans" panose="020B0606030504020204" pitchFamily="34" charset="0"/>
                    <a:cs typeface="Calibri" panose="020F0502020204030204" pitchFamily="34" charset="0"/>
                  </a:rPr>
                  <a:t>∆| performance</a:t>
                </a:r>
                <a:r>
                  <a:rPr lang="en-US" sz="2400">
                    <a:solidFill>
                      <a:schemeClr val="tx1">
                        <a:lumMod val="65000"/>
                        <a:lumOff val="35000"/>
                      </a:schemeClr>
                    </a:solidFill>
                    <a:latin typeface="Domine" panose="02040503040403060204" pitchFamily="18" charset="0"/>
                    <a:ea typeface="Open Sans" panose="020B0606030504020204" pitchFamily="34" charset="0"/>
                    <a:cs typeface="Open Sans" panose="020B0606030504020204" pitchFamily="34" charset="0"/>
                  </a:rPr>
                  <a:t> and F1 score.</a:t>
                </a:r>
              </a:p>
            </p:txBody>
          </p:sp>
          <p:sp>
            <p:nvSpPr>
              <p:cNvPr id="86" name="Textfeld 85">
                <a:extLst>
                  <a:ext uri="{FF2B5EF4-FFF2-40B4-BE49-F238E27FC236}">
                    <a16:creationId xmlns:a16="http://schemas.microsoft.com/office/drawing/2014/main" id="{F35C6D9F-9BD6-604D-EAB3-AEC8EA566624}"/>
                  </a:ext>
                </a:extLst>
              </p:cNvPr>
              <p:cNvSpPr txBox="1"/>
              <p:nvPr/>
            </p:nvSpPr>
            <p:spPr>
              <a:xfrm>
                <a:off x="22942518" y="22735069"/>
                <a:ext cx="9287505" cy="523220"/>
              </a:xfrm>
              <a:prstGeom prst="rect">
                <a:avLst/>
              </a:prstGeom>
              <a:noFill/>
            </p:spPr>
            <p:txBody>
              <a:bodyPr wrap="square" rtlCol="0">
                <a:spAutoFit/>
              </a:bodyPr>
              <a:lstStyle/>
              <a:p>
                <a:r>
                  <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Optimal </a:t>
                </a:r>
                <a:r>
                  <a:rPr lang="de-DE" sz="2800" b="1" err="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performance</a:t>
                </a:r>
                <a:r>
                  <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 with C </a:t>
                </a:r>
                <a:r>
                  <a:rPr lang="de-DE" sz="2800" b="1" err="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value</a:t>
                </a:r>
                <a:r>
                  <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 </a:t>
                </a:r>
                <a:r>
                  <a:rPr lang="de-DE" sz="2800" b="1" err="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of</a:t>
                </a:r>
                <a:r>
                  <a:rPr lang="de-DE" sz="2800" b="1">
                    <a:solidFill>
                      <a:schemeClr val="tx1">
                        <a:lumMod val="75000"/>
                        <a:lumOff val="25000"/>
                      </a:schemeClr>
                    </a:solidFill>
                    <a:latin typeface="Domine" panose="02040503040403060204" pitchFamily="18" charset="0"/>
                    <a:ea typeface="Open Sans" panose="020B0606030504020204" pitchFamily="34" charset="0"/>
                    <a:cs typeface="Open Sans" panose="020B0606030504020204" pitchFamily="34" charset="0"/>
                  </a:rPr>
                  <a:t> 0.17</a:t>
                </a:r>
              </a:p>
            </p:txBody>
          </p:sp>
        </p:grpSp>
        <p:pic>
          <p:nvPicPr>
            <p:cNvPr id="100" name="Grafik 99">
              <a:extLst>
                <a:ext uri="{FF2B5EF4-FFF2-40B4-BE49-F238E27FC236}">
                  <a16:creationId xmlns:a16="http://schemas.microsoft.com/office/drawing/2014/main" id="{79968C27-6470-40A6-E15C-709055ECA37F}"/>
                </a:ext>
              </a:extLst>
            </p:cNvPr>
            <p:cNvPicPr>
              <a:picLocks noChangeAspect="1"/>
            </p:cNvPicPr>
            <p:nvPr/>
          </p:nvPicPr>
          <p:blipFill rotWithShape="1">
            <a:blip r:embed="rId12">
              <a:extLst>
                <a:ext uri="{28A0092B-C50C-407E-A947-70E740481C1C}">
                  <a14:useLocalDpi xmlns:a14="http://schemas.microsoft.com/office/drawing/2010/main" val="0"/>
                </a:ext>
              </a:extLst>
            </a:blip>
            <a:srcRect b="2519"/>
            <a:stretch/>
          </p:blipFill>
          <p:spPr>
            <a:xfrm>
              <a:off x="22954323" y="23240323"/>
              <a:ext cx="9000000" cy="4386616"/>
            </a:xfrm>
            <a:prstGeom prst="rect">
              <a:avLst/>
            </a:prstGeom>
          </p:spPr>
        </p:pic>
      </p:grpSp>
      <p:sp>
        <p:nvSpPr>
          <p:cNvPr id="104" name="Rechteck 103">
            <a:extLst>
              <a:ext uri="{FF2B5EF4-FFF2-40B4-BE49-F238E27FC236}">
                <a16:creationId xmlns:a16="http://schemas.microsoft.com/office/drawing/2014/main" id="{3A87064F-AA06-EC7F-8EEB-73B5C9D288CF}"/>
              </a:ext>
            </a:extLst>
          </p:cNvPr>
          <p:cNvSpPr/>
          <p:nvPr/>
        </p:nvSpPr>
        <p:spPr>
          <a:xfrm>
            <a:off x="16026653" y="12908787"/>
            <a:ext cx="632490" cy="2524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3" name="Textfeld 102">
            <a:extLst>
              <a:ext uri="{FF2B5EF4-FFF2-40B4-BE49-F238E27FC236}">
                <a16:creationId xmlns:a16="http://schemas.microsoft.com/office/drawing/2014/main" id="{B4878640-447F-3D1F-19BC-4248124CE0C5}"/>
              </a:ext>
            </a:extLst>
          </p:cNvPr>
          <p:cNvSpPr txBox="1"/>
          <p:nvPr/>
        </p:nvSpPr>
        <p:spPr>
          <a:xfrm>
            <a:off x="15997741" y="12823002"/>
            <a:ext cx="1215887" cy="338554"/>
          </a:xfrm>
          <a:prstGeom prst="rect">
            <a:avLst/>
          </a:prstGeom>
          <a:noFill/>
        </p:spPr>
        <p:txBody>
          <a:bodyPr wrap="square" rtlCol="0">
            <a:spAutoFit/>
          </a:bodyPr>
          <a:lstStyle/>
          <a:p>
            <a:r>
              <a:rPr lang="de-DE" sz="1600" err="1">
                <a:latin typeface="Arial" panose="020B0604020202020204" pitchFamily="34" charset="0"/>
                <a:cs typeface="Arial" panose="020B0604020202020204" pitchFamily="34" charset="0"/>
              </a:rPr>
              <a:t>Biliary</a:t>
            </a:r>
            <a:endParaRPr lang="en-GB" sz="1600">
              <a:latin typeface="Arial" panose="020B0604020202020204" pitchFamily="34" charset="0"/>
              <a:cs typeface="Arial" panose="020B0604020202020204" pitchFamily="34" charset="0"/>
            </a:endParaRPr>
          </a:p>
        </p:txBody>
      </p:sp>
      <p:sp>
        <p:nvSpPr>
          <p:cNvPr id="106" name="Rechteck 105">
            <a:extLst>
              <a:ext uri="{FF2B5EF4-FFF2-40B4-BE49-F238E27FC236}">
                <a16:creationId xmlns:a16="http://schemas.microsoft.com/office/drawing/2014/main" id="{661FA64A-6649-C3C9-334A-2ED4CE3DA212}"/>
              </a:ext>
            </a:extLst>
          </p:cNvPr>
          <p:cNvSpPr/>
          <p:nvPr/>
        </p:nvSpPr>
        <p:spPr>
          <a:xfrm>
            <a:off x="15963254" y="20461287"/>
            <a:ext cx="554495" cy="25643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 name="Textfeld 101">
            <a:extLst>
              <a:ext uri="{FF2B5EF4-FFF2-40B4-BE49-F238E27FC236}">
                <a16:creationId xmlns:a16="http://schemas.microsoft.com/office/drawing/2014/main" id="{F2F932DF-72A6-112B-C7D5-BBA5DF2ECC09}"/>
              </a:ext>
            </a:extLst>
          </p:cNvPr>
          <p:cNvSpPr txBox="1"/>
          <p:nvPr/>
        </p:nvSpPr>
        <p:spPr>
          <a:xfrm>
            <a:off x="15878833" y="20404711"/>
            <a:ext cx="1215887" cy="312393"/>
          </a:xfrm>
          <a:prstGeom prst="rect">
            <a:avLst/>
          </a:prstGeom>
          <a:noFill/>
        </p:spPr>
        <p:txBody>
          <a:bodyPr wrap="square" rtlCol="0">
            <a:spAutoFit/>
          </a:bodyPr>
          <a:lstStyle/>
          <a:p>
            <a:r>
              <a:rPr lang="de-DE" sz="1430" err="1">
                <a:latin typeface="Arial" panose="020B0604020202020204" pitchFamily="34" charset="0"/>
                <a:cs typeface="Arial" panose="020B0604020202020204" pitchFamily="34" charset="0"/>
              </a:rPr>
              <a:t>Biliary</a:t>
            </a:r>
            <a:endParaRPr lang="en-GB" sz="1430">
              <a:latin typeface="Arial" panose="020B0604020202020204" pitchFamily="34" charset="0"/>
              <a:cs typeface="Arial" panose="020B0604020202020204" pitchFamily="34" charset="0"/>
            </a:endParaRPr>
          </a:p>
        </p:txBody>
      </p:sp>
      <p:sp>
        <p:nvSpPr>
          <p:cNvPr id="107" name="Rechteck 106">
            <a:extLst>
              <a:ext uri="{FF2B5EF4-FFF2-40B4-BE49-F238E27FC236}">
                <a16:creationId xmlns:a16="http://schemas.microsoft.com/office/drawing/2014/main" id="{75E88136-9159-E10F-CD11-206AA3BE36CC}"/>
              </a:ext>
            </a:extLst>
          </p:cNvPr>
          <p:cNvSpPr/>
          <p:nvPr/>
        </p:nvSpPr>
        <p:spPr>
          <a:xfrm>
            <a:off x="30628828" y="8235553"/>
            <a:ext cx="658416" cy="2814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8" name="Textfeld 107">
            <a:extLst>
              <a:ext uri="{FF2B5EF4-FFF2-40B4-BE49-F238E27FC236}">
                <a16:creationId xmlns:a16="http://schemas.microsoft.com/office/drawing/2014/main" id="{1519325A-BB49-2699-4A20-9B142EB06E78}"/>
              </a:ext>
            </a:extLst>
          </p:cNvPr>
          <p:cNvSpPr txBox="1"/>
          <p:nvPr/>
        </p:nvSpPr>
        <p:spPr>
          <a:xfrm>
            <a:off x="30569298" y="8183639"/>
            <a:ext cx="886062" cy="369332"/>
          </a:xfrm>
          <a:prstGeom prst="rect">
            <a:avLst/>
          </a:prstGeom>
          <a:noFill/>
        </p:spPr>
        <p:txBody>
          <a:bodyPr wrap="square" rtlCol="0">
            <a:spAutoFit/>
          </a:bodyPr>
          <a:lstStyle/>
          <a:p>
            <a:r>
              <a:rPr lang="de-DE" err="1"/>
              <a:t>Biliary</a:t>
            </a:r>
            <a:endParaRPr lang="en-GB"/>
          </a:p>
        </p:txBody>
      </p:sp>
      <p:sp>
        <p:nvSpPr>
          <p:cNvPr id="109" name="Rechteck 108">
            <a:extLst>
              <a:ext uri="{FF2B5EF4-FFF2-40B4-BE49-F238E27FC236}">
                <a16:creationId xmlns:a16="http://schemas.microsoft.com/office/drawing/2014/main" id="{D792BB35-CC79-FDE1-AD95-42BB975427FB}"/>
              </a:ext>
            </a:extLst>
          </p:cNvPr>
          <p:cNvSpPr/>
          <p:nvPr/>
        </p:nvSpPr>
        <p:spPr>
          <a:xfrm>
            <a:off x="36815967" y="14741544"/>
            <a:ext cx="962393" cy="180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0" name="Textfeld 109">
            <a:extLst>
              <a:ext uri="{FF2B5EF4-FFF2-40B4-BE49-F238E27FC236}">
                <a16:creationId xmlns:a16="http://schemas.microsoft.com/office/drawing/2014/main" id="{98F9741F-9628-F8F6-72E6-07C78CDB0403}"/>
              </a:ext>
            </a:extLst>
          </p:cNvPr>
          <p:cNvSpPr txBox="1"/>
          <p:nvPr/>
        </p:nvSpPr>
        <p:spPr>
          <a:xfrm>
            <a:off x="36921161" y="14668175"/>
            <a:ext cx="934608" cy="338554"/>
          </a:xfrm>
          <a:prstGeom prst="rect">
            <a:avLst/>
          </a:prstGeom>
          <a:noFill/>
        </p:spPr>
        <p:txBody>
          <a:bodyPr wrap="square" rtlCol="0">
            <a:spAutoFit/>
          </a:bodyPr>
          <a:lstStyle/>
          <a:p>
            <a:r>
              <a:rPr lang="de-DE" sz="1600" err="1"/>
              <a:t>Biliary</a:t>
            </a:r>
            <a:endParaRPr lang="en-GB" sz="1600"/>
          </a:p>
        </p:txBody>
      </p:sp>
    </p:spTree>
    <p:extLst>
      <p:ext uri="{BB962C8B-B14F-4D97-AF65-F5344CB8AC3E}">
        <p14:creationId xmlns:p14="http://schemas.microsoft.com/office/powerpoint/2010/main" val="1256332898"/>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TotalTime>
  <Words>1017</Words>
  <Application>Microsoft Office PowerPoint</Application>
  <PresentationFormat>Custom</PresentationFormat>
  <Paragraphs>74</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Domine</vt:lpstr>
      <vt:lpstr>Montserrat Extra Bold</vt:lpstr>
      <vt:lpstr>Office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Alina Martin</dc:creator>
  <cp:lastModifiedBy>Pascal Bärtschi</cp:lastModifiedBy>
  <cp:revision>1</cp:revision>
  <dcterms:created xsi:type="dcterms:W3CDTF">2022-11-24T11:46:09Z</dcterms:created>
  <dcterms:modified xsi:type="dcterms:W3CDTF">2023-06-30T08:50:37Z</dcterms:modified>
</cp:coreProperties>
</file>